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800066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5050"/>
    <a:srgbClr val="3A4480"/>
    <a:srgbClr val="71D3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 autoAdjust="0"/>
    <p:restoredTop sz="94660"/>
  </p:normalViewPr>
  <p:slideViewPr>
    <p:cSldViewPr snapToGrid="0">
      <p:cViewPr>
        <p:scale>
          <a:sx n="25" d="100"/>
          <a:sy n="25" d="100"/>
        </p:scale>
        <p:origin x="3300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945943"/>
            <a:ext cx="15300564" cy="626689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9454516"/>
            <a:ext cx="13500497" cy="4345992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DBCE-E1BD-46CE-98FD-6118CD459EF6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3CDD-53ED-42A1-8E9D-CD052AD86B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185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DBCE-E1BD-46CE-98FD-6118CD459EF6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3CDD-53ED-42A1-8E9D-CD052AD86B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05185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487671"/>
            <a:ext cx="15525572" cy="7487774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2046282"/>
            <a:ext cx="15525572" cy="3937644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82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DBCE-E1BD-46CE-98FD-6118CD459EF6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3CDD-53ED-42A1-8E9D-CD052AD86B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8787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791843"/>
            <a:ext cx="7650282" cy="1142125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791843"/>
            <a:ext cx="7650282" cy="1142125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DBCE-E1BD-46CE-98FD-6118CD459EF6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3CDD-53ED-42A1-8E9D-CD052AD86B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163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58373"/>
            <a:ext cx="15525572" cy="347929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4412664"/>
            <a:ext cx="7615123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6575242"/>
            <a:ext cx="7615123" cy="967119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4412664"/>
            <a:ext cx="7652626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6575242"/>
            <a:ext cx="7652626" cy="967119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DBCE-E1BD-46CE-98FD-6118CD459EF6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3CDD-53ED-42A1-8E9D-CD052AD86B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320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DBCE-E1BD-46CE-98FD-6118CD459EF6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3CDD-53ED-42A1-8E9D-CD052AD86B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1696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DBCE-E1BD-46CE-98FD-6118CD459EF6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3CDD-53ED-42A1-8E9D-CD052AD86B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36102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591766"/>
            <a:ext cx="9112836" cy="12792138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DBCE-E1BD-46CE-98FD-6118CD459EF6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3CDD-53ED-42A1-8E9D-CD052AD86B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2727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591766"/>
            <a:ext cx="9112836" cy="12792138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DBCE-E1BD-46CE-98FD-6118CD459EF6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3CDD-53ED-42A1-8E9D-CD052AD86B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486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DBCE-E1BD-46CE-98FD-6118CD459EF6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3CDD-53ED-42A1-8E9D-CD052AD86B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6510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958369"/>
            <a:ext cx="3881393" cy="1525473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958369"/>
            <a:ext cx="11419171" cy="1525473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DBCE-E1BD-46CE-98FD-6118CD459EF6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43CDD-53ED-42A1-8E9D-CD052AD86B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6383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958373"/>
            <a:ext cx="15525572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791843"/>
            <a:ext cx="15525572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9DBCE-E1BD-46CE-98FD-6118CD459EF6}" type="datetimeFigureOut">
              <a:rPr lang="es-CL" smtClean="0"/>
              <a:t>08-06-2026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6683952"/>
            <a:ext cx="607522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43CDD-53ED-42A1-8E9D-CD052AD86B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9716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3C96ECC-D9F3-1209-8171-AEEF9C183F2C}"/>
              </a:ext>
            </a:extLst>
          </p:cNvPr>
          <p:cNvSpPr/>
          <p:nvPr/>
        </p:nvSpPr>
        <p:spPr>
          <a:xfrm>
            <a:off x="617838" y="593124"/>
            <a:ext cx="16681621" cy="5293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DD8DBAA-ED73-6CCF-E1F0-C3C71E96AB99}"/>
              </a:ext>
            </a:extLst>
          </p:cNvPr>
          <p:cNvSpPr/>
          <p:nvPr/>
        </p:nvSpPr>
        <p:spPr>
          <a:xfrm>
            <a:off x="617837" y="6087762"/>
            <a:ext cx="16681621" cy="5293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D79F589-5209-DE42-857B-CDEEBCFEB9CC}"/>
              </a:ext>
            </a:extLst>
          </p:cNvPr>
          <p:cNvSpPr/>
          <p:nvPr/>
        </p:nvSpPr>
        <p:spPr>
          <a:xfrm>
            <a:off x="614873" y="11646203"/>
            <a:ext cx="16681621" cy="51898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DA388D9-D8C9-C8CB-3CBE-EB98ABBE38CF}"/>
              </a:ext>
            </a:extLst>
          </p:cNvPr>
          <p:cNvSpPr txBox="1"/>
          <p:nvPr/>
        </p:nvSpPr>
        <p:spPr>
          <a:xfrm>
            <a:off x="659520" y="770021"/>
            <a:ext cx="16639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cap="smal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Stage 1: Input data and </a:t>
            </a:r>
            <a:r>
              <a:rPr lang="es-CL" b="1" cap="smal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preprocessing</a:t>
            </a:r>
            <a:endParaRPr lang="es-CL" b="1" cap="smal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F9949E3-0304-71AC-A9EA-D7E926B32181}"/>
              </a:ext>
            </a:extLst>
          </p:cNvPr>
          <p:cNvSpPr txBox="1"/>
          <p:nvPr/>
        </p:nvSpPr>
        <p:spPr>
          <a:xfrm>
            <a:off x="638678" y="6163823"/>
            <a:ext cx="16639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cap="smal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Stage 2: Tumor-</a:t>
            </a:r>
            <a:r>
              <a:rPr lang="es-CL" b="1" cap="smal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masked</a:t>
            </a:r>
            <a:r>
              <a:rPr lang="es-CL" b="1" cap="smal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b="1" cap="smal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Tractography</a:t>
            </a:r>
            <a:endParaRPr lang="es-CL" b="1" cap="smal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E146502-0D21-17FA-3529-048575E4C9D8}"/>
              </a:ext>
            </a:extLst>
          </p:cNvPr>
          <p:cNvSpPr txBox="1"/>
          <p:nvPr/>
        </p:nvSpPr>
        <p:spPr>
          <a:xfrm>
            <a:off x="617837" y="11646203"/>
            <a:ext cx="16639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cap="smal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Stage 3: </a:t>
            </a:r>
            <a:r>
              <a:rPr lang="es-CL" b="1" cap="smal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Explainable</a:t>
            </a:r>
            <a:r>
              <a:rPr lang="es-CL" b="1" cap="smal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Machine </a:t>
            </a:r>
            <a:r>
              <a:rPr lang="es-CL" b="1" cap="smal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Learning</a:t>
            </a:r>
            <a:r>
              <a:rPr lang="es-CL" b="1" cap="smal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b="1" cap="smal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Strategy</a:t>
            </a:r>
            <a:endParaRPr lang="es-CL" b="1" cap="smal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96AC5FC8-E1BB-3964-C967-D65E55BB030A}"/>
              </a:ext>
            </a:extLst>
          </p:cNvPr>
          <p:cNvGrpSpPr/>
          <p:nvPr/>
        </p:nvGrpSpPr>
        <p:grpSpPr>
          <a:xfrm>
            <a:off x="929069" y="1316250"/>
            <a:ext cx="2298699" cy="2131800"/>
            <a:chOff x="718566" y="1060121"/>
            <a:chExt cx="4042851" cy="3837131"/>
          </a:xfrm>
        </p:grpSpPr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CCECC6BC-1A60-C5D2-BB22-29BFFEA89EE1}"/>
                </a:ext>
              </a:extLst>
            </p:cNvPr>
            <p:cNvSpPr txBox="1"/>
            <p:nvPr/>
          </p:nvSpPr>
          <p:spPr>
            <a:xfrm>
              <a:off x="718566" y="1060121"/>
              <a:ext cx="4042851" cy="11633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b="1" cap="small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</a:t>
              </a:r>
              <a:r>
                <a:rPr lang="es-CL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a) T1-weighted MRI</a:t>
              </a:r>
              <a:endParaRPr lang="es-CL" b="1" cap="smal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30BAE78D-EA7F-E775-E1AA-AFE9BCFAF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45" r="89710" b="72959"/>
            <a:stretch>
              <a:fillRect/>
            </a:stretch>
          </p:blipFill>
          <p:spPr>
            <a:xfrm flipH="1">
              <a:off x="1563532" y="2125898"/>
              <a:ext cx="2352918" cy="2771354"/>
            </a:xfrm>
            <a:prstGeom prst="rect">
              <a:avLst/>
            </a:prstGeom>
          </p:spPr>
        </p:pic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A9C278AE-2386-6EF2-F18B-4C80DC8D2EE6}"/>
              </a:ext>
            </a:extLst>
          </p:cNvPr>
          <p:cNvGrpSpPr/>
          <p:nvPr/>
        </p:nvGrpSpPr>
        <p:grpSpPr>
          <a:xfrm flipH="1">
            <a:off x="929069" y="3524111"/>
            <a:ext cx="2133798" cy="1905781"/>
            <a:chOff x="3585124" y="1406763"/>
            <a:chExt cx="4016481" cy="3443515"/>
          </a:xfrm>
        </p:grpSpPr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97CC92B0-5563-335B-81D9-A095B968C4CA}"/>
                </a:ext>
              </a:extLst>
            </p:cNvPr>
            <p:cNvSpPr txBox="1"/>
            <p:nvPr/>
          </p:nvSpPr>
          <p:spPr>
            <a:xfrm>
              <a:off x="3585124" y="1406763"/>
              <a:ext cx="4016481" cy="667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(b) DWI Data</a:t>
              </a:r>
              <a:endParaRPr lang="es-CL" b="1" cap="smal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8A82CEE3-348D-10C0-03A1-03E5FF064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812" t="53284" r="76649" b="27841"/>
            <a:stretch>
              <a:fillRect/>
            </a:stretch>
          </p:blipFill>
          <p:spPr>
            <a:xfrm flipH="1">
              <a:off x="4226103" y="2078922"/>
              <a:ext cx="2518220" cy="2771356"/>
            </a:xfrm>
            <a:prstGeom prst="rect">
              <a:avLst/>
            </a:prstGeom>
          </p:spPr>
        </p:pic>
      </p:grpSp>
      <p:pic>
        <p:nvPicPr>
          <p:cNvPr id="31" name="Imagen 30">
            <a:extLst>
              <a:ext uri="{FF2B5EF4-FFF2-40B4-BE49-F238E27FC236}">
                <a16:creationId xmlns:a16="http://schemas.microsoft.com/office/drawing/2014/main" id="{49AC11F5-E02C-3E5F-07FF-33EFE905F4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0" r="89577" b="77743"/>
          <a:stretch>
            <a:fillRect/>
          </a:stretch>
        </p:blipFill>
        <p:spPr>
          <a:xfrm flipH="1">
            <a:off x="5719494" y="1331059"/>
            <a:ext cx="1261402" cy="1539685"/>
          </a:xfrm>
          <a:prstGeom prst="rect">
            <a:avLst/>
          </a:prstGeom>
        </p:spPr>
      </p:pic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7123FAF2-AA2D-1226-E617-D09FA33FA55B}"/>
              </a:ext>
            </a:extLst>
          </p:cNvPr>
          <p:cNvCxnSpPr/>
          <p:nvPr/>
        </p:nvCxnSpPr>
        <p:spPr>
          <a:xfrm>
            <a:off x="3227768" y="1422400"/>
            <a:ext cx="4552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C3FB65C-B1E9-5219-3962-86712DB98220}"/>
              </a:ext>
            </a:extLst>
          </p:cNvPr>
          <p:cNvCxnSpPr/>
          <p:nvPr/>
        </p:nvCxnSpPr>
        <p:spPr>
          <a:xfrm>
            <a:off x="3252970" y="5478388"/>
            <a:ext cx="4552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D26A3016-3E65-27B6-7950-6736473E4A36}"/>
              </a:ext>
            </a:extLst>
          </p:cNvPr>
          <p:cNvCxnSpPr>
            <a:cxnSpLocks/>
          </p:cNvCxnSpPr>
          <p:nvPr/>
        </p:nvCxnSpPr>
        <p:spPr>
          <a:xfrm>
            <a:off x="3683000" y="1422400"/>
            <a:ext cx="25202" cy="40559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1FEE39FD-0870-CF4F-0D36-FECA7AA918E5}"/>
              </a:ext>
            </a:extLst>
          </p:cNvPr>
          <p:cNvCxnSpPr/>
          <p:nvPr/>
        </p:nvCxnSpPr>
        <p:spPr>
          <a:xfrm>
            <a:off x="4483100" y="2133082"/>
            <a:ext cx="12363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71DADD28-08AA-C2B4-93E9-59EBF6B34166}"/>
              </a:ext>
            </a:extLst>
          </p:cNvPr>
          <p:cNvCxnSpPr/>
          <p:nvPr/>
        </p:nvCxnSpPr>
        <p:spPr>
          <a:xfrm>
            <a:off x="4483100" y="4930257"/>
            <a:ext cx="12363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F6E3FF6B-E6AD-628B-9C90-AC55EAFDFECA}"/>
              </a:ext>
            </a:extLst>
          </p:cNvPr>
          <p:cNvCxnSpPr>
            <a:cxnSpLocks/>
          </p:cNvCxnSpPr>
          <p:nvPr/>
        </p:nvCxnSpPr>
        <p:spPr>
          <a:xfrm>
            <a:off x="4483100" y="2133082"/>
            <a:ext cx="0" cy="27865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B08EEE48-736E-5200-9D58-7DB3797BF37A}"/>
              </a:ext>
            </a:extLst>
          </p:cNvPr>
          <p:cNvCxnSpPr>
            <a:cxnSpLocks/>
          </p:cNvCxnSpPr>
          <p:nvPr/>
        </p:nvCxnSpPr>
        <p:spPr>
          <a:xfrm>
            <a:off x="3683000" y="3448050"/>
            <a:ext cx="800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27C2396-42A1-D2BC-20C9-5A28ED8F75B1}"/>
              </a:ext>
            </a:extLst>
          </p:cNvPr>
          <p:cNvSpPr txBox="1"/>
          <p:nvPr/>
        </p:nvSpPr>
        <p:spPr>
          <a:xfrm>
            <a:off x="4340895" y="1417713"/>
            <a:ext cx="1520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cap="smal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rain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extraction</a:t>
            </a:r>
            <a:endParaRPr lang="es-CL" b="1" cap="smal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1FD2AAC2-9722-7F2B-3A23-0D07054AB169}"/>
              </a:ext>
            </a:extLst>
          </p:cNvPr>
          <p:cNvSpPr txBox="1"/>
          <p:nvPr/>
        </p:nvSpPr>
        <p:spPr>
          <a:xfrm>
            <a:off x="4291692" y="4894151"/>
            <a:ext cx="1520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cap="smal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alculated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DTI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Maps</a:t>
            </a:r>
            <a:endParaRPr lang="es-CL" b="1" cap="smal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52" name="Imagen 51">
            <a:extLst>
              <a:ext uri="{FF2B5EF4-FFF2-40B4-BE49-F238E27FC236}">
                <a16:creationId xmlns:a16="http://schemas.microsoft.com/office/drawing/2014/main" id="{18C3C107-8D45-2BC1-0124-EB666C474E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1" r="89585" b="77709"/>
          <a:stretch>
            <a:fillRect/>
          </a:stretch>
        </p:blipFill>
        <p:spPr>
          <a:xfrm flipH="1">
            <a:off x="10112859" y="1327389"/>
            <a:ext cx="1261393" cy="1534065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09977816-A59A-992B-BCA2-15554FF6F4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0" t="54376" r="76117" b="25992"/>
          <a:stretch>
            <a:fillRect/>
          </a:stretch>
        </p:blipFill>
        <p:spPr>
          <a:xfrm>
            <a:off x="7073385" y="4103858"/>
            <a:ext cx="1261399" cy="1530079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B2C6E3F9-140F-4E3D-BC4C-43F58E3A51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19" t="53303" r="76558" b="27408"/>
          <a:stretch>
            <a:fillRect/>
          </a:stretch>
        </p:blipFill>
        <p:spPr>
          <a:xfrm>
            <a:off x="5743991" y="4101733"/>
            <a:ext cx="1261399" cy="1530079"/>
          </a:xfrm>
          <a:prstGeom prst="rect">
            <a:avLst/>
          </a:prstGeom>
        </p:spPr>
      </p:pic>
      <p:sp>
        <p:nvSpPr>
          <p:cNvPr id="61" name="CuadroTexto 60">
            <a:extLst>
              <a:ext uri="{FF2B5EF4-FFF2-40B4-BE49-F238E27FC236}">
                <a16:creationId xmlns:a16="http://schemas.microsoft.com/office/drawing/2014/main" id="{A6E2AF71-D19A-97E2-7C02-6AE34EC82575}"/>
              </a:ext>
            </a:extLst>
          </p:cNvPr>
          <p:cNvSpPr txBox="1"/>
          <p:nvPr/>
        </p:nvSpPr>
        <p:spPr>
          <a:xfrm>
            <a:off x="5589793" y="3646010"/>
            <a:ext cx="1520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e.g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., FA</a:t>
            </a:r>
          </a:p>
          <a:p>
            <a:pPr algn="ctr"/>
            <a:endParaRPr lang="es-CL" b="1" cap="smal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74C3BE3D-1B38-4155-D693-A3D9A62B06B1}"/>
              </a:ext>
            </a:extLst>
          </p:cNvPr>
          <p:cNvSpPr txBox="1"/>
          <p:nvPr/>
        </p:nvSpPr>
        <p:spPr>
          <a:xfrm>
            <a:off x="6943682" y="3646009"/>
            <a:ext cx="1520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Colormap</a:t>
            </a:r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cap="smal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F2E7BD2D-310B-D681-0E7C-A1750F2ED947}"/>
              </a:ext>
            </a:extLst>
          </p:cNvPr>
          <p:cNvCxnSpPr>
            <a:cxnSpLocks/>
          </p:cNvCxnSpPr>
          <p:nvPr/>
        </p:nvCxnSpPr>
        <p:spPr>
          <a:xfrm flipV="1">
            <a:off x="6943682" y="2133082"/>
            <a:ext cx="3169177" cy="67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CuadroTexto 64">
            <a:extLst>
              <a:ext uri="{FF2B5EF4-FFF2-40B4-BE49-F238E27FC236}">
                <a16:creationId xmlns:a16="http://schemas.microsoft.com/office/drawing/2014/main" id="{59C859CF-77D0-DFB3-31EA-3F1CE4E8DF84}"/>
              </a:ext>
            </a:extLst>
          </p:cNvPr>
          <p:cNvSpPr txBox="1"/>
          <p:nvPr/>
        </p:nvSpPr>
        <p:spPr>
          <a:xfrm>
            <a:off x="7491861" y="1417713"/>
            <a:ext cx="2072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(c)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Personalized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Tumor Mask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D4014BA8-92B9-6767-570E-6A14BBA25F41}"/>
              </a:ext>
            </a:extLst>
          </p:cNvPr>
          <p:cNvSpPr txBox="1"/>
          <p:nvPr/>
        </p:nvSpPr>
        <p:spPr>
          <a:xfrm>
            <a:off x="7301228" y="2158036"/>
            <a:ext cx="2454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Manually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segmented</a:t>
            </a:r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267C9E59-335C-57B7-6150-FA6BBF684F33}"/>
              </a:ext>
            </a:extLst>
          </p:cNvPr>
          <p:cNvSpPr txBox="1"/>
          <p:nvPr/>
        </p:nvSpPr>
        <p:spPr>
          <a:xfrm>
            <a:off x="8345700" y="4229563"/>
            <a:ext cx="18281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(d) JHU White Matter Atlas 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(MNI Space)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425CF124-1E88-EA46-7266-2EDB80C73DEE}"/>
              </a:ext>
            </a:extLst>
          </p:cNvPr>
          <p:cNvSpPr txBox="1"/>
          <p:nvPr/>
        </p:nvSpPr>
        <p:spPr>
          <a:xfrm>
            <a:off x="13556079" y="1877390"/>
            <a:ext cx="3785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(e)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Spatial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Normalization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to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Atlas Space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9D2E0040-F4E4-A0B7-10EA-34948514952B}"/>
              </a:ext>
            </a:extLst>
          </p:cNvPr>
          <p:cNvSpPr txBox="1"/>
          <p:nvPr/>
        </p:nvSpPr>
        <p:spPr>
          <a:xfrm>
            <a:off x="809626" y="6683096"/>
            <a:ext cx="3531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AutoNum type="alphaLcParenBoth"/>
            </a:pP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Tumor Mask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Mapping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and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Exclusion</a:t>
            </a:r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 algn="ctr">
              <a:buAutoNum type="alphaLcParenBoth"/>
            </a:pPr>
            <a:endParaRPr lang="es-CL" b="1" cap="smal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8C80787C-96A2-31D7-CC5D-A00317E3AE81}"/>
              </a:ext>
            </a:extLst>
          </p:cNvPr>
          <p:cNvSpPr txBox="1"/>
          <p:nvPr/>
        </p:nvSpPr>
        <p:spPr>
          <a:xfrm>
            <a:off x="4174969" y="6672012"/>
            <a:ext cx="32310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cap="smal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b)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Probabilistic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Diffusion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Modeling</a:t>
            </a:r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cap="smal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cap="smal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3B1A08E5-06C7-128A-06E7-52C75DC12CC4}"/>
              </a:ext>
            </a:extLst>
          </p:cNvPr>
          <p:cNvSpPr txBox="1"/>
          <p:nvPr/>
        </p:nvSpPr>
        <p:spPr>
          <a:xfrm>
            <a:off x="8268786" y="6654511"/>
            <a:ext cx="52872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cap="smal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c)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Structural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Connectivity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Matrix</a:t>
            </a: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cap="smal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8597B8A9-CCE5-C94B-1582-AF9A0EF1C768}"/>
              </a:ext>
            </a:extLst>
          </p:cNvPr>
          <p:cNvSpPr txBox="1"/>
          <p:nvPr/>
        </p:nvSpPr>
        <p:spPr>
          <a:xfrm>
            <a:off x="14330144" y="6682583"/>
            <a:ext cx="274474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cap="smal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(d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Multi-level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Feature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Extraction</a:t>
            </a:r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r>
              <a:rPr lang="es-CL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307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continous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features</a:t>
            </a:r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F9BF88A-7F23-3B63-5778-769214D63D01}"/>
              </a:ext>
            </a:extLst>
          </p:cNvPr>
          <p:cNvGrpSpPr/>
          <p:nvPr/>
        </p:nvGrpSpPr>
        <p:grpSpPr>
          <a:xfrm>
            <a:off x="10593321" y="7803058"/>
            <a:ext cx="3396654" cy="3216542"/>
            <a:chOff x="7360246" y="7855374"/>
            <a:chExt cx="3396654" cy="3216542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1E5D5D0C-F66D-E43B-F368-6E7AC4176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336" r="46175"/>
            <a:stretch>
              <a:fillRect/>
            </a:stretch>
          </p:blipFill>
          <p:spPr>
            <a:xfrm>
              <a:off x="7360246" y="7983785"/>
              <a:ext cx="3396654" cy="3088131"/>
            </a:xfrm>
            <a:prstGeom prst="rect">
              <a:avLst/>
            </a:prstGeom>
          </p:spPr>
        </p:pic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31BCD990-C464-8A57-6FC3-DC17FC42C801}"/>
                </a:ext>
              </a:extLst>
            </p:cNvPr>
            <p:cNvSpPr/>
            <p:nvPr/>
          </p:nvSpPr>
          <p:spPr>
            <a:xfrm>
              <a:off x="8701789" y="7855374"/>
              <a:ext cx="1281949" cy="153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5A016481-3C2F-BB5A-2544-138A94C976AB}"/>
              </a:ext>
            </a:extLst>
          </p:cNvPr>
          <p:cNvGrpSpPr/>
          <p:nvPr/>
        </p:nvGrpSpPr>
        <p:grpSpPr>
          <a:xfrm>
            <a:off x="7073385" y="7807044"/>
            <a:ext cx="3296629" cy="3108453"/>
            <a:chOff x="10085906" y="8591659"/>
            <a:chExt cx="3296629" cy="3108453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D3321345-CB84-982E-28D7-68AAAABDF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85906" y="8591659"/>
              <a:ext cx="3296629" cy="2578651"/>
            </a:xfrm>
            <a:prstGeom prst="rect">
              <a:avLst/>
            </a:prstGeom>
          </p:spPr>
        </p:pic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DD11B520-CF32-A942-7790-9DA1D774F280}"/>
                </a:ext>
              </a:extLst>
            </p:cNvPr>
            <p:cNvSpPr txBox="1"/>
            <p:nvPr/>
          </p:nvSpPr>
          <p:spPr>
            <a:xfrm>
              <a:off x="10889391" y="11053781"/>
              <a:ext cx="22986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3D </a:t>
              </a:r>
              <a:r>
                <a:rPr lang="es-CL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Structural</a:t>
              </a:r>
              <a:r>
                <a:rPr lang="es-CL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</a:t>
              </a:r>
              <a:r>
                <a:rPr lang="es-CL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connectome</a:t>
              </a:r>
              <a:endPara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25B45625-1E4B-22F2-6090-BB55F9BE5FAF}"/>
              </a:ext>
            </a:extLst>
          </p:cNvPr>
          <p:cNvCxnSpPr>
            <a:cxnSpLocks/>
          </p:cNvCxnSpPr>
          <p:nvPr/>
        </p:nvCxnSpPr>
        <p:spPr>
          <a:xfrm>
            <a:off x="10112859" y="9187918"/>
            <a:ext cx="5643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Imagen 20">
            <a:extLst>
              <a:ext uri="{FF2B5EF4-FFF2-40B4-BE49-F238E27FC236}">
                <a16:creationId xmlns:a16="http://schemas.microsoft.com/office/drawing/2014/main" id="{2DB55EB1-9A2A-056F-3E18-4E140FBAEFEA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1114" y="7477176"/>
            <a:ext cx="2737817" cy="2737817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38B0E43-D96F-B1F6-711D-A62FFEC7F6EB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96" t="20640" r="14668" b="16020"/>
          <a:stretch>
            <a:fillRect/>
          </a:stretch>
        </p:blipFill>
        <p:spPr>
          <a:xfrm>
            <a:off x="1270351" y="13471457"/>
            <a:ext cx="2812699" cy="2858040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41FFDE78-B8FB-496D-539A-EDAB448E00B0}"/>
              </a:ext>
            </a:extLst>
          </p:cNvPr>
          <p:cNvSpPr txBox="1"/>
          <p:nvPr/>
        </p:nvSpPr>
        <p:spPr>
          <a:xfrm>
            <a:off x="1156685" y="12374444"/>
            <a:ext cx="5620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AutoNum type="alphaLcParenBoth"/>
            </a:pP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Feature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Selection</a:t>
            </a:r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 algn="ctr">
              <a:buAutoNum type="alphaLcParenBoth"/>
            </a:pPr>
            <a:endParaRPr lang="es-CL" b="1" cap="smal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 algn="ctr">
              <a:buAutoNum type="alphaLcParenBoth"/>
            </a:pPr>
            <a:endParaRPr lang="es-CL" b="1" cap="smal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8DFE3578-7737-00D6-C846-8DB1AD8D07BA}"/>
              </a:ext>
            </a:extLst>
          </p:cNvPr>
          <p:cNvCxnSpPr>
            <a:cxnSpLocks/>
          </p:cNvCxnSpPr>
          <p:nvPr/>
        </p:nvCxnSpPr>
        <p:spPr>
          <a:xfrm>
            <a:off x="1270351" y="13341316"/>
            <a:ext cx="28126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CAFFD648-6FED-AA8E-B89C-04CC5A4B4957}"/>
              </a:ext>
            </a:extLst>
          </p:cNvPr>
          <p:cNvCxnSpPr>
            <a:cxnSpLocks/>
          </p:cNvCxnSpPr>
          <p:nvPr/>
        </p:nvCxnSpPr>
        <p:spPr>
          <a:xfrm flipV="1">
            <a:off x="1139449" y="13471457"/>
            <a:ext cx="0" cy="2871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2685ADF-88FE-1EF3-53E5-D176C368C2A6}"/>
              </a:ext>
            </a:extLst>
          </p:cNvPr>
          <p:cNvSpPr txBox="1"/>
          <p:nvPr/>
        </p:nvSpPr>
        <p:spPr>
          <a:xfrm>
            <a:off x="1527350" y="12906914"/>
            <a:ext cx="229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features</a:t>
            </a:r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7917666-3744-C884-BD5A-16736120E7FB}"/>
              </a:ext>
            </a:extLst>
          </p:cNvPr>
          <p:cNvSpPr txBox="1"/>
          <p:nvPr/>
        </p:nvSpPr>
        <p:spPr>
          <a:xfrm rot="16200000">
            <a:off x="-270691" y="14722401"/>
            <a:ext cx="229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samples</a:t>
            </a:r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E3EE887-B386-F6E1-32E9-7C4F84458AE2}"/>
              </a:ext>
            </a:extLst>
          </p:cNvPr>
          <p:cNvSpPr txBox="1"/>
          <p:nvPr/>
        </p:nvSpPr>
        <p:spPr>
          <a:xfrm>
            <a:off x="-162460" y="16044995"/>
            <a:ext cx="229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4507F08-2DBD-3AAF-67C2-60E54449D304}"/>
              </a:ext>
            </a:extLst>
          </p:cNvPr>
          <p:cNvSpPr txBox="1"/>
          <p:nvPr/>
        </p:nvSpPr>
        <p:spPr>
          <a:xfrm>
            <a:off x="3064601" y="16032607"/>
            <a:ext cx="229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B6B31254-2CAD-293B-5B29-1E63E6C036EF}"/>
              </a:ext>
            </a:extLst>
          </p:cNvPr>
          <p:cNvCxnSpPr>
            <a:cxnSpLocks/>
          </p:cNvCxnSpPr>
          <p:nvPr/>
        </p:nvCxnSpPr>
        <p:spPr>
          <a:xfrm flipH="1">
            <a:off x="11374252" y="2107107"/>
            <a:ext cx="12363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0C8A8E29-02ED-E2C8-A9E5-AB336D0E66B0}"/>
              </a:ext>
            </a:extLst>
          </p:cNvPr>
          <p:cNvCxnSpPr>
            <a:cxnSpLocks/>
          </p:cNvCxnSpPr>
          <p:nvPr/>
        </p:nvCxnSpPr>
        <p:spPr>
          <a:xfrm flipH="1">
            <a:off x="11374252" y="4876297"/>
            <a:ext cx="12363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5E010092-67BB-6ECE-1F10-0BA084246915}"/>
              </a:ext>
            </a:extLst>
          </p:cNvPr>
          <p:cNvCxnSpPr>
            <a:cxnSpLocks/>
          </p:cNvCxnSpPr>
          <p:nvPr/>
        </p:nvCxnSpPr>
        <p:spPr>
          <a:xfrm>
            <a:off x="12610646" y="2099241"/>
            <a:ext cx="0" cy="27865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2EA11924-E3F0-6B30-A79F-55D2EC6E2DCA}"/>
              </a:ext>
            </a:extLst>
          </p:cNvPr>
          <p:cNvCxnSpPr>
            <a:cxnSpLocks/>
          </p:cNvCxnSpPr>
          <p:nvPr/>
        </p:nvCxnSpPr>
        <p:spPr>
          <a:xfrm flipV="1">
            <a:off x="12610646" y="3448050"/>
            <a:ext cx="2087812" cy="185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ángulo 68">
            <a:extLst>
              <a:ext uri="{FF2B5EF4-FFF2-40B4-BE49-F238E27FC236}">
                <a16:creationId xmlns:a16="http://schemas.microsoft.com/office/drawing/2014/main" id="{C756FC59-9B65-6BA9-B49F-E0C9174FA762}"/>
              </a:ext>
            </a:extLst>
          </p:cNvPr>
          <p:cNvSpPr/>
          <p:nvPr/>
        </p:nvSpPr>
        <p:spPr>
          <a:xfrm>
            <a:off x="7146098" y="8260127"/>
            <a:ext cx="387654" cy="1662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19413D44-7313-3FCB-7905-2892811D8906}"/>
              </a:ext>
            </a:extLst>
          </p:cNvPr>
          <p:cNvSpPr/>
          <p:nvPr/>
        </p:nvSpPr>
        <p:spPr>
          <a:xfrm>
            <a:off x="3005071" y="10180771"/>
            <a:ext cx="722288" cy="2250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4E4D0EE8-236E-1EF6-E4C5-10C76676106B}"/>
              </a:ext>
            </a:extLst>
          </p:cNvPr>
          <p:cNvSpPr/>
          <p:nvPr/>
        </p:nvSpPr>
        <p:spPr>
          <a:xfrm>
            <a:off x="3440616" y="9702691"/>
            <a:ext cx="722288" cy="2250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0B469C44-61DF-3E98-EDF1-6A5308FC960B}"/>
              </a:ext>
            </a:extLst>
          </p:cNvPr>
          <p:cNvSpPr/>
          <p:nvPr/>
        </p:nvSpPr>
        <p:spPr>
          <a:xfrm>
            <a:off x="638678" y="9860453"/>
            <a:ext cx="974595" cy="1159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08" name="Grupo 107">
            <a:extLst>
              <a:ext uri="{FF2B5EF4-FFF2-40B4-BE49-F238E27FC236}">
                <a16:creationId xmlns:a16="http://schemas.microsoft.com/office/drawing/2014/main" id="{DD272ED9-D7C1-642B-6D49-9EB64EEB9A10}"/>
              </a:ext>
            </a:extLst>
          </p:cNvPr>
          <p:cNvGrpSpPr/>
          <p:nvPr/>
        </p:nvGrpSpPr>
        <p:grpSpPr>
          <a:xfrm>
            <a:off x="1014635" y="7525461"/>
            <a:ext cx="2707180" cy="3419059"/>
            <a:chOff x="3408777" y="7882912"/>
            <a:chExt cx="1855990" cy="2737822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FA05B67D-BD0E-B1B4-6186-6297908D70E8}"/>
                </a:ext>
              </a:extLst>
            </p:cNvPr>
            <p:cNvSpPr/>
            <p:nvPr/>
          </p:nvSpPr>
          <p:spPr>
            <a:xfrm>
              <a:off x="3408777" y="8284906"/>
              <a:ext cx="442576" cy="2250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E87F9439-0113-E60D-1982-1202552E7171}"/>
                </a:ext>
              </a:extLst>
            </p:cNvPr>
            <p:cNvSpPr/>
            <p:nvPr/>
          </p:nvSpPr>
          <p:spPr>
            <a:xfrm>
              <a:off x="3430536" y="9657736"/>
              <a:ext cx="722288" cy="2250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96" name="Imagen 95">
              <a:extLst>
                <a:ext uri="{FF2B5EF4-FFF2-40B4-BE49-F238E27FC236}">
                  <a16:creationId xmlns:a16="http://schemas.microsoft.com/office/drawing/2014/main" id="{35DE57A6-84C8-749C-1EEA-CF5DEDD17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880" t="5961" r="5953" b="61285"/>
            <a:stretch>
              <a:fillRect/>
            </a:stretch>
          </p:blipFill>
          <p:spPr>
            <a:xfrm>
              <a:off x="3671653" y="8266895"/>
              <a:ext cx="1554388" cy="980342"/>
            </a:xfrm>
            <a:prstGeom prst="rect">
              <a:avLst/>
            </a:prstGeom>
          </p:spPr>
        </p:pic>
        <p:sp>
          <p:nvSpPr>
            <p:cNvPr id="97" name="Rectángulo 96">
              <a:extLst>
                <a:ext uri="{FF2B5EF4-FFF2-40B4-BE49-F238E27FC236}">
                  <a16:creationId xmlns:a16="http://schemas.microsoft.com/office/drawing/2014/main" id="{7EDA2709-A285-D8F0-72EB-C35BB6EF6086}"/>
                </a:ext>
              </a:extLst>
            </p:cNvPr>
            <p:cNvSpPr/>
            <p:nvPr/>
          </p:nvSpPr>
          <p:spPr>
            <a:xfrm>
              <a:off x="3671652" y="9187918"/>
              <a:ext cx="128703" cy="639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98" name="Imagen 97">
              <a:extLst>
                <a:ext uri="{FF2B5EF4-FFF2-40B4-BE49-F238E27FC236}">
                  <a16:creationId xmlns:a16="http://schemas.microsoft.com/office/drawing/2014/main" id="{9A469914-4B72-9CAF-DAC7-47E37C164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049" t="51553" r="6784" b="16437"/>
            <a:stretch>
              <a:fillRect/>
            </a:stretch>
          </p:blipFill>
          <p:spPr>
            <a:xfrm>
              <a:off x="3671651" y="9659882"/>
              <a:ext cx="1554388" cy="958056"/>
            </a:xfrm>
            <a:prstGeom prst="rect">
              <a:avLst/>
            </a:prstGeom>
          </p:spPr>
        </p:pic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7A83E026-563D-1A4F-40A2-F512AB0AA924}"/>
                </a:ext>
              </a:extLst>
            </p:cNvPr>
            <p:cNvSpPr/>
            <p:nvPr/>
          </p:nvSpPr>
          <p:spPr>
            <a:xfrm>
              <a:off x="3671652" y="10553284"/>
              <a:ext cx="128703" cy="639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6E47F4C4-1507-C6F9-1002-3F34672C4E1E}"/>
                </a:ext>
              </a:extLst>
            </p:cNvPr>
            <p:cNvSpPr/>
            <p:nvPr/>
          </p:nvSpPr>
          <p:spPr>
            <a:xfrm>
              <a:off x="3671652" y="7882912"/>
              <a:ext cx="1554388" cy="27378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101" name="Conector recto 100">
              <a:extLst>
                <a:ext uri="{FF2B5EF4-FFF2-40B4-BE49-F238E27FC236}">
                  <a16:creationId xmlns:a16="http://schemas.microsoft.com/office/drawing/2014/main" id="{8DD50381-1EB6-2B2F-D397-9A82CF1CCCAC}"/>
                </a:ext>
              </a:extLst>
            </p:cNvPr>
            <p:cNvCxnSpPr>
              <a:cxnSpLocks/>
            </p:cNvCxnSpPr>
            <p:nvPr/>
          </p:nvCxnSpPr>
          <p:spPr>
            <a:xfrm>
              <a:off x="3671652" y="9251823"/>
              <a:ext cx="155438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CuadroTexto 101">
              <a:extLst>
                <a:ext uri="{FF2B5EF4-FFF2-40B4-BE49-F238E27FC236}">
                  <a16:creationId xmlns:a16="http://schemas.microsoft.com/office/drawing/2014/main" id="{AF68DCE6-2002-118A-6C08-00559562CECA}"/>
                </a:ext>
              </a:extLst>
            </p:cNvPr>
            <p:cNvSpPr txBox="1"/>
            <p:nvPr/>
          </p:nvSpPr>
          <p:spPr>
            <a:xfrm>
              <a:off x="3655820" y="7900867"/>
              <a:ext cx="1574941" cy="3203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CL" sz="1000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A.1. Tumor </a:t>
              </a:r>
              <a:r>
                <a:rPr lang="es-CL" sz="1000" b="1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mask</a:t>
              </a:r>
              <a:r>
                <a:rPr lang="es-CL" sz="1000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</a:t>
              </a:r>
              <a:r>
                <a:rPr lang="es-CL" sz="1000" b="1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mapping</a:t>
              </a:r>
              <a:r>
                <a:rPr lang="es-CL" sz="1000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and </a:t>
              </a:r>
              <a:r>
                <a:rPr lang="es-CL" sz="1000" b="1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fiber</a:t>
              </a:r>
              <a:r>
                <a:rPr lang="es-CL" sz="1000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</a:t>
              </a:r>
              <a:r>
                <a:rPr lang="es-CL" sz="1000" b="1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overlap</a:t>
              </a:r>
              <a:endParaRPr lang="es-CL" sz="10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03" name="CuadroTexto 102">
              <a:extLst>
                <a:ext uri="{FF2B5EF4-FFF2-40B4-BE49-F238E27FC236}">
                  <a16:creationId xmlns:a16="http://schemas.microsoft.com/office/drawing/2014/main" id="{B654A5DD-97F3-B26D-CF0F-E0136ACCC8B0}"/>
                </a:ext>
              </a:extLst>
            </p:cNvPr>
            <p:cNvSpPr txBox="1"/>
            <p:nvPr/>
          </p:nvSpPr>
          <p:spPr>
            <a:xfrm>
              <a:off x="3630065" y="9284381"/>
              <a:ext cx="1634702" cy="3203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CL" sz="1000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A.2. Fiber </a:t>
              </a:r>
              <a:r>
                <a:rPr lang="es-CL" sz="1000" b="1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tract</a:t>
              </a:r>
              <a:r>
                <a:rPr lang="es-CL" sz="1000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exclusión and </a:t>
              </a:r>
              <a:r>
                <a:rPr lang="es-CL" sz="1000" b="1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verification</a:t>
              </a:r>
              <a:endParaRPr lang="es-CL" sz="10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pic>
        <p:nvPicPr>
          <p:cNvPr id="112" name="Imagen 111">
            <a:extLst>
              <a:ext uri="{FF2B5EF4-FFF2-40B4-BE49-F238E27FC236}">
                <a16:creationId xmlns:a16="http://schemas.microsoft.com/office/drawing/2014/main" id="{AC8D14F4-EF14-90A8-7C33-0AFECBA96855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96" t="20640" r="74209" b="16020"/>
          <a:stretch>
            <a:fillRect/>
          </a:stretch>
        </p:blipFill>
        <p:spPr>
          <a:xfrm>
            <a:off x="4597075" y="13471457"/>
            <a:ext cx="126100" cy="2858040"/>
          </a:xfrm>
          <a:prstGeom prst="rect">
            <a:avLst/>
          </a:prstGeom>
        </p:spPr>
      </p:pic>
      <p:sp>
        <p:nvSpPr>
          <p:cNvPr id="113" name="CuadroTexto 112">
            <a:extLst>
              <a:ext uri="{FF2B5EF4-FFF2-40B4-BE49-F238E27FC236}">
                <a16:creationId xmlns:a16="http://schemas.microsoft.com/office/drawing/2014/main" id="{D96BA14D-ACFB-710B-B3CC-764A6646711F}"/>
              </a:ext>
            </a:extLst>
          </p:cNvPr>
          <p:cNvSpPr txBox="1"/>
          <p:nvPr/>
        </p:nvSpPr>
        <p:spPr>
          <a:xfrm>
            <a:off x="3498679" y="12933654"/>
            <a:ext cx="229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labels</a:t>
            </a:r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15" name="Conector recto de flecha 114">
            <a:extLst>
              <a:ext uri="{FF2B5EF4-FFF2-40B4-BE49-F238E27FC236}">
                <a16:creationId xmlns:a16="http://schemas.microsoft.com/office/drawing/2014/main" id="{CCBC9F9D-763A-C2D9-F1F5-7E197B17C2F0}"/>
              </a:ext>
            </a:extLst>
          </p:cNvPr>
          <p:cNvCxnSpPr>
            <a:cxnSpLocks/>
          </p:cNvCxnSpPr>
          <p:nvPr/>
        </p:nvCxnSpPr>
        <p:spPr>
          <a:xfrm>
            <a:off x="4912199" y="14900477"/>
            <a:ext cx="5643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D7252602-B475-D7F6-593D-475649EB4502}"/>
              </a:ext>
            </a:extLst>
          </p:cNvPr>
          <p:cNvSpPr txBox="1"/>
          <p:nvPr/>
        </p:nvSpPr>
        <p:spPr>
          <a:xfrm>
            <a:off x="4009054" y="14466075"/>
            <a:ext cx="229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SFS</a:t>
            </a:r>
          </a:p>
        </p:txBody>
      </p:sp>
      <p:pic>
        <p:nvPicPr>
          <p:cNvPr id="117" name="Imagen 116">
            <a:extLst>
              <a:ext uri="{FF2B5EF4-FFF2-40B4-BE49-F238E27FC236}">
                <a16:creationId xmlns:a16="http://schemas.microsoft.com/office/drawing/2014/main" id="{DDEB07DA-91B6-74F1-4C9D-FDB3E3E9C82B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96" t="20640" r="66900" b="16020"/>
          <a:stretch>
            <a:fillRect/>
          </a:stretch>
        </p:blipFill>
        <p:spPr>
          <a:xfrm>
            <a:off x="5929309" y="13471457"/>
            <a:ext cx="455928" cy="2858040"/>
          </a:xfrm>
          <a:prstGeom prst="rect">
            <a:avLst/>
          </a:prstGeom>
        </p:spPr>
      </p:pic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0530784F-87CD-8152-2B7A-E12778B2A64C}"/>
              </a:ext>
            </a:extLst>
          </p:cNvPr>
          <p:cNvCxnSpPr>
            <a:cxnSpLocks/>
          </p:cNvCxnSpPr>
          <p:nvPr/>
        </p:nvCxnSpPr>
        <p:spPr>
          <a:xfrm>
            <a:off x="5912462" y="13342088"/>
            <a:ext cx="5078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8C239F60-FC53-0260-365B-7DA6246A2522}"/>
              </a:ext>
            </a:extLst>
          </p:cNvPr>
          <p:cNvSpPr txBox="1"/>
          <p:nvPr/>
        </p:nvSpPr>
        <p:spPr>
          <a:xfrm>
            <a:off x="4975655" y="12910947"/>
            <a:ext cx="229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features</a:t>
            </a:r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22" name="Conector recto de flecha 121">
            <a:extLst>
              <a:ext uri="{FF2B5EF4-FFF2-40B4-BE49-F238E27FC236}">
                <a16:creationId xmlns:a16="http://schemas.microsoft.com/office/drawing/2014/main" id="{34099AC7-967E-012D-FFC7-F3976A7580C0}"/>
              </a:ext>
            </a:extLst>
          </p:cNvPr>
          <p:cNvCxnSpPr>
            <a:cxnSpLocks/>
          </p:cNvCxnSpPr>
          <p:nvPr/>
        </p:nvCxnSpPr>
        <p:spPr>
          <a:xfrm flipV="1">
            <a:off x="5849357" y="13455804"/>
            <a:ext cx="0" cy="2871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E276370D-FD73-079F-DDD2-385F704E679E}"/>
              </a:ext>
            </a:extLst>
          </p:cNvPr>
          <p:cNvSpPr txBox="1"/>
          <p:nvPr/>
        </p:nvSpPr>
        <p:spPr>
          <a:xfrm rot="16200000">
            <a:off x="4439217" y="14706748"/>
            <a:ext cx="229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samples</a:t>
            </a:r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98519D65-016A-AB8B-EAC8-FD1865D501BD}"/>
              </a:ext>
            </a:extLst>
          </p:cNvPr>
          <p:cNvSpPr txBox="1"/>
          <p:nvPr/>
        </p:nvSpPr>
        <p:spPr>
          <a:xfrm>
            <a:off x="6438662" y="12384530"/>
            <a:ext cx="5620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(b) Model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Classification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via</a:t>
            </a:r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Random Forest</a:t>
            </a:r>
          </a:p>
          <a:p>
            <a:pPr marL="342900" indent="-342900" algn="ctr">
              <a:buAutoNum type="alphaLcParenBoth"/>
            </a:pPr>
            <a:endParaRPr lang="es-CL" b="1" cap="smal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 algn="ctr">
              <a:buAutoNum type="alphaLcParenBoth"/>
            </a:pPr>
            <a:endParaRPr lang="es-CL" b="1" cap="smal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43E1F082-33E8-60BF-E183-12DA7ED87926}"/>
              </a:ext>
            </a:extLst>
          </p:cNvPr>
          <p:cNvSpPr txBox="1"/>
          <p:nvPr/>
        </p:nvSpPr>
        <p:spPr>
          <a:xfrm>
            <a:off x="11576520" y="12362729"/>
            <a:ext cx="56205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(c) Model </a:t>
            </a:r>
            <a:r>
              <a:rPr lang="es-CL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Interpretation</a:t>
            </a:r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endParaRPr lang="es-CL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Diagnostic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interpretability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was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quantified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via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tree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SHAP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values</a:t>
            </a:r>
            <a:endParaRPr lang="es-C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 algn="ctr">
              <a:buAutoNum type="alphaLcParenBoth"/>
            </a:pPr>
            <a:endParaRPr lang="es-CL" b="1" cap="smal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 algn="ctr">
              <a:buAutoNum type="alphaLcParenBoth"/>
            </a:pPr>
            <a:endParaRPr lang="es-CL" b="1" cap="small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27" name="Imagen 126">
            <a:extLst>
              <a:ext uri="{FF2B5EF4-FFF2-40B4-BE49-F238E27FC236}">
                <a16:creationId xmlns:a16="http://schemas.microsoft.com/office/drawing/2014/main" id="{296C559B-6039-3AAD-7950-99C502C5D1BC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2449" y="13681362"/>
            <a:ext cx="4491366" cy="1569426"/>
          </a:xfrm>
          <a:prstGeom prst="rect">
            <a:avLst/>
          </a:prstGeom>
        </p:spPr>
      </p:pic>
      <p:sp>
        <p:nvSpPr>
          <p:cNvPr id="130" name="Rectángulo 129">
            <a:extLst>
              <a:ext uri="{FF2B5EF4-FFF2-40B4-BE49-F238E27FC236}">
                <a16:creationId xmlns:a16="http://schemas.microsoft.com/office/drawing/2014/main" id="{FD6D9D3E-F10E-3E1D-E0D3-A20830BF82A3}"/>
              </a:ext>
            </a:extLst>
          </p:cNvPr>
          <p:cNvSpPr/>
          <p:nvPr/>
        </p:nvSpPr>
        <p:spPr>
          <a:xfrm>
            <a:off x="6943682" y="13118320"/>
            <a:ext cx="4758623" cy="32243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34" name="Conector recto 133">
            <a:extLst>
              <a:ext uri="{FF2B5EF4-FFF2-40B4-BE49-F238E27FC236}">
                <a16:creationId xmlns:a16="http://schemas.microsoft.com/office/drawing/2014/main" id="{65E83DD7-5DED-C074-D016-9C0EF6AD964D}"/>
              </a:ext>
            </a:extLst>
          </p:cNvPr>
          <p:cNvCxnSpPr>
            <a:stCxn id="130" idx="1"/>
          </p:cNvCxnSpPr>
          <p:nvPr/>
        </p:nvCxnSpPr>
        <p:spPr>
          <a:xfrm flipV="1">
            <a:off x="6943682" y="14719300"/>
            <a:ext cx="4758623" cy="111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Elipse 134">
            <a:extLst>
              <a:ext uri="{FF2B5EF4-FFF2-40B4-BE49-F238E27FC236}">
                <a16:creationId xmlns:a16="http://schemas.microsoft.com/office/drawing/2014/main" id="{DF65EA23-A50C-2318-4C73-9D2023075930}"/>
              </a:ext>
            </a:extLst>
          </p:cNvPr>
          <p:cNvSpPr/>
          <p:nvPr/>
        </p:nvSpPr>
        <p:spPr>
          <a:xfrm>
            <a:off x="7095367" y="13994826"/>
            <a:ext cx="178987" cy="18063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43" name="Elipse 142">
            <a:extLst>
              <a:ext uri="{FF2B5EF4-FFF2-40B4-BE49-F238E27FC236}">
                <a16:creationId xmlns:a16="http://schemas.microsoft.com/office/drawing/2014/main" id="{F0DFCA6C-6530-19A9-E609-333D63A2223D}"/>
              </a:ext>
            </a:extLst>
          </p:cNvPr>
          <p:cNvSpPr/>
          <p:nvPr/>
        </p:nvSpPr>
        <p:spPr>
          <a:xfrm>
            <a:off x="7095366" y="14308091"/>
            <a:ext cx="178987" cy="18063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4" name="CuadroTexto 143">
            <a:extLst>
              <a:ext uri="{FF2B5EF4-FFF2-40B4-BE49-F238E27FC236}">
                <a16:creationId xmlns:a16="http://schemas.microsoft.com/office/drawing/2014/main" id="{1148CED7-FEC9-38EA-6B94-EE00980F7941}"/>
              </a:ext>
            </a:extLst>
          </p:cNvPr>
          <p:cNvSpPr txBox="1"/>
          <p:nvPr/>
        </p:nvSpPr>
        <p:spPr>
          <a:xfrm>
            <a:off x="7251274" y="13954045"/>
            <a:ext cx="5264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LGG</a:t>
            </a:r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8207F482-CAC4-B2E4-56BF-3C131D394D33}"/>
              </a:ext>
            </a:extLst>
          </p:cNvPr>
          <p:cNvSpPr txBox="1"/>
          <p:nvPr/>
        </p:nvSpPr>
        <p:spPr>
          <a:xfrm>
            <a:off x="7251274" y="14295218"/>
            <a:ext cx="5264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HGG</a:t>
            </a:r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BEA6489C-4D17-6C67-A64B-FAD0FB29A79A}"/>
              </a:ext>
            </a:extLst>
          </p:cNvPr>
          <p:cNvSpPr txBox="1"/>
          <p:nvPr/>
        </p:nvSpPr>
        <p:spPr>
          <a:xfrm>
            <a:off x="6899415" y="13524306"/>
            <a:ext cx="961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Labels</a:t>
            </a:r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(diagnosis)</a:t>
            </a:r>
          </a:p>
        </p:txBody>
      </p:sp>
      <p:grpSp>
        <p:nvGrpSpPr>
          <p:cNvPr id="166" name="Grupo 165">
            <a:extLst>
              <a:ext uri="{FF2B5EF4-FFF2-40B4-BE49-F238E27FC236}">
                <a16:creationId xmlns:a16="http://schemas.microsoft.com/office/drawing/2014/main" id="{C7187DA8-08AE-10B5-F450-659160262DB0}"/>
              </a:ext>
            </a:extLst>
          </p:cNvPr>
          <p:cNvGrpSpPr/>
          <p:nvPr/>
        </p:nvGrpSpPr>
        <p:grpSpPr>
          <a:xfrm>
            <a:off x="7798313" y="13644989"/>
            <a:ext cx="1041670" cy="914575"/>
            <a:chOff x="8089799" y="13548386"/>
            <a:chExt cx="1041670" cy="914575"/>
          </a:xfrm>
        </p:grpSpPr>
        <p:sp>
          <p:nvSpPr>
            <p:cNvPr id="136" name="Elipse 135">
              <a:extLst>
                <a:ext uri="{FF2B5EF4-FFF2-40B4-BE49-F238E27FC236}">
                  <a16:creationId xmlns:a16="http://schemas.microsoft.com/office/drawing/2014/main" id="{800C13A9-EEBF-41AC-1636-A00675A8C152}"/>
                </a:ext>
              </a:extLst>
            </p:cNvPr>
            <p:cNvSpPr/>
            <p:nvPr/>
          </p:nvSpPr>
          <p:spPr>
            <a:xfrm>
              <a:off x="8513980" y="13548386"/>
              <a:ext cx="178987" cy="18063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37" name="Elipse 136">
              <a:extLst>
                <a:ext uri="{FF2B5EF4-FFF2-40B4-BE49-F238E27FC236}">
                  <a16:creationId xmlns:a16="http://schemas.microsoft.com/office/drawing/2014/main" id="{925BDAC9-A2A8-5B91-2CDB-B0C8ACBAD4B9}"/>
                </a:ext>
              </a:extLst>
            </p:cNvPr>
            <p:cNvSpPr/>
            <p:nvPr/>
          </p:nvSpPr>
          <p:spPr>
            <a:xfrm>
              <a:off x="8230315" y="13902432"/>
              <a:ext cx="178987" cy="18063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8" name="Elipse 137">
              <a:extLst>
                <a:ext uri="{FF2B5EF4-FFF2-40B4-BE49-F238E27FC236}">
                  <a16:creationId xmlns:a16="http://schemas.microsoft.com/office/drawing/2014/main" id="{F5DD4B19-F9C4-AD85-DA3F-C92AE3E5898E}"/>
                </a:ext>
              </a:extLst>
            </p:cNvPr>
            <p:cNvSpPr/>
            <p:nvPr/>
          </p:nvSpPr>
          <p:spPr>
            <a:xfrm>
              <a:off x="8807670" y="13896882"/>
              <a:ext cx="178987" cy="18063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9" name="Elipse 138">
              <a:extLst>
                <a:ext uri="{FF2B5EF4-FFF2-40B4-BE49-F238E27FC236}">
                  <a16:creationId xmlns:a16="http://schemas.microsoft.com/office/drawing/2014/main" id="{56FEB936-83E2-F1CA-B189-A9F70B0B4A66}"/>
                </a:ext>
              </a:extLst>
            </p:cNvPr>
            <p:cNvSpPr/>
            <p:nvPr/>
          </p:nvSpPr>
          <p:spPr>
            <a:xfrm>
              <a:off x="8089799" y="14282323"/>
              <a:ext cx="178987" cy="180638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0" name="Elipse 139">
              <a:extLst>
                <a:ext uri="{FF2B5EF4-FFF2-40B4-BE49-F238E27FC236}">
                  <a16:creationId xmlns:a16="http://schemas.microsoft.com/office/drawing/2014/main" id="{67D15FBA-F49C-A23C-2DC0-F98CD84C0570}"/>
                </a:ext>
              </a:extLst>
            </p:cNvPr>
            <p:cNvSpPr/>
            <p:nvPr/>
          </p:nvSpPr>
          <p:spPr>
            <a:xfrm>
              <a:off x="8355404" y="14282323"/>
              <a:ext cx="178987" cy="180638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1" name="Elipse 140">
              <a:extLst>
                <a:ext uri="{FF2B5EF4-FFF2-40B4-BE49-F238E27FC236}">
                  <a16:creationId xmlns:a16="http://schemas.microsoft.com/office/drawing/2014/main" id="{53C5576E-7A04-B394-03B8-23E5B0DEA6DD}"/>
                </a:ext>
              </a:extLst>
            </p:cNvPr>
            <p:cNvSpPr/>
            <p:nvPr/>
          </p:nvSpPr>
          <p:spPr>
            <a:xfrm>
              <a:off x="8667358" y="14278832"/>
              <a:ext cx="178987" cy="18063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2" name="Elipse 141">
              <a:extLst>
                <a:ext uri="{FF2B5EF4-FFF2-40B4-BE49-F238E27FC236}">
                  <a16:creationId xmlns:a16="http://schemas.microsoft.com/office/drawing/2014/main" id="{83BFAE2C-6778-A99B-51DF-146632914E46}"/>
                </a:ext>
              </a:extLst>
            </p:cNvPr>
            <p:cNvSpPr/>
            <p:nvPr/>
          </p:nvSpPr>
          <p:spPr>
            <a:xfrm>
              <a:off x="8952482" y="14278832"/>
              <a:ext cx="178987" cy="180638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cxnSp>
          <p:nvCxnSpPr>
            <p:cNvPr id="148" name="Conector recto 147">
              <a:extLst>
                <a:ext uri="{FF2B5EF4-FFF2-40B4-BE49-F238E27FC236}">
                  <a16:creationId xmlns:a16="http://schemas.microsoft.com/office/drawing/2014/main" id="{68B28805-4099-E1A5-0744-C4E0697A4A8B}"/>
                </a:ext>
              </a:extLst>
            </p:cNvPr>
            <p:cNvCxnSpPr>
              <a:cxnSpLocks/>
              <a:stCxn id="137" idx="7"/>
            </p:cNvCxnSpPr>
            <p:nvPr/>
          </p:nvCxnSpPr>
          <p:spPr>
            <a:xfrm flipV="1">
              <a:off x="8383090" y="13681362"/>
              <a:ext cx="145179" cy="2475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ector recto 149">
              <a:extLst>
                <a:ext uri="{FF2B5EF4-FFF2-40B4-BE49-F238E27FC236}">
                  <a16:creationId xmlns:a16="http://schemas.microsoft.com/office/drawing/2014/main" id="{53C000D8-DFC1-4087-F15F-320C8D8F0FE6}"/>
                </a:ext>
              </a:extLst>
            </p:cNvPr>
            <p:cNvCxnSpPr>
              <a:stCxn id="136" idx="5"/>
              <a:endCxn id="138" idx="1"/>
            </p:cNvCxnSpPr>
            <p:nvPr/>
          </p:nvCxnSpPr>
          <p:spPr>
            <a:xfrm>
              <a:off x="8666755" y="13702570"/>
              <a:ext cx="167127" cy="2207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ector recto 151">
              <a:extLst>
                <a:ext uri="{FF2B5EF4-FFF2-40B4-BE49-F238E27FC236}">
                  <a16:creationId xmlns:a16="http://schemas.microsoft.com/office/drawing/2014/main" id="{4D9D0CD4-E0E5-3AFE-21B6-A801FBD9CED0}"/>
                </a:ext>
              </a:extLst>
            </p:cNvPr>
            <p:cNvCxnSpPr>
              <a:cxnSpLocks/>
              <a:stCxn id="139" idx="0"/>
              <a:endCxn id="137" idx="3"/>
            </p:cNvCxnSpPr>
            <p:nvPr/>
          </p:nvCxnSpPr>
          <p:spPr>
            <a:xfrm flipV="1">
              <a:off x="8179293" y="14056616"/>
              <a:ext cx="77234" cy="22570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94678E73-29CF-5B8D-E72B-9C59B1C95129}"/>
                </a:ext>
              </a:extLst>
            </p:cNvPr>
            <p:cNvCxnSpPr>
              <a:cxnSpLocks/>
              <a:stCxn id="140" idx="0"/>
              <a:endCxn id="137" idx="5"/>
            </p:cNvCxnSpPr>
            <p:nvPr/>
          </p:nvCxnSpPr>
          <p:spPr>
            <a:xfrm flipH="1" flipV="1">
              <a:off x="8383090" y="14056616"/>
              <a:ext cx="61808" cy="22570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10C9E7AB-8A9A-E394-6CE1-3BD9B5810D58}"/>
                </a:ext>
              </a:extLst>
            </p:cNvPr>
            <p:cNvCxnSpPr>
              <a:cxnSpLocks/>
              <a:stCxn id="141" idx="0"/>
              <a:endCxn id="138" idx="3"/>
            </p:cNvCxnSpPr>
            <p:nvPr/>
          </p:nvCxnSpPr>
          <p:spPr>
            <a:xfrm flipV="1">
              <a:off x="8756852" y="14051066"/>
              <a:ext cx="77030" cy="2277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>
              <a:extLst>
                <a:ext uri="{FF2B5EF4-FFF2-40B4-BE49-F238E27FC236}">
                  <a16:creationId xmlns:a16="http://schemas.microsoft.com/office/drawing/2014/main" id="{AC2F1E13-3AEA-F892-BEE3-D3347EE00546}"/>
                </a:ext>
              </a:extLst>
            </p:cNvPr>
            <p:cNvCxnSpPr>
              <a:cxnSpLocks/>
              <a:stCxn id="142" idx="0"/>
              <a:endCxn id="138" idx="5"/>
            </p:cNvCxnSpPr>
            <p:nvPr/>
          </p:nvCxnSpPr>
          <p:spPr>
            <a:xfrm flipH="1" flipV="1">
              <a:off x="8960445" y="14051066"/>
              <a:ext cx="81531" cy="2277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CuadroTexto 166">
            <a:extLst>
              <a:ext uri="{FF2B5EF4-FFF2-40B4-BE49-F238E27FC236}">
                <a16:creationId xmlns:a16="http://schemas.microsoft.com/office/drawing/2014/main" id="{E5600DFE-8A6C-3037-8C8F-572939BC4A39}"/>
              </a:ext>
            </a:extLst>
          </p:cNvPr>
          <p:cNvSpPr txBox="1"/>
          <p:nvPr/>
        </p:nvSpPr>
        <p:spPr>
          <a:xfrm>
            <a:off x="6890257" y="13110053"/>
            <a:ext cx="4802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0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b.1. Random Forest </a:t>
            </a:r>
            <a:r>
              <a:rPr lang="es-CL" sz="10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Classifier</a:t>
            </a:r>
            <a:endParaRPr lang="es-CL" sz="10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Ensemble </a:t>
            </a:r>
            <a:r>
              <a:rPr lang="es-CL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of</a:t>
            </a:r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Decision</a:t>
            </a:r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Trees</a:t>
            </a:r>
          </a:p>
        </p:txBody>
      </p:sp>
      <p:grpSp>
        <p:nvGrpSpPr>
          <p:cNvPr id="168" name="Grupo 167">
            <a:extLst>
              <a:ext uri="{FF2B5EF4-FFF2-40B4-BE49-F238E27FC236}">
                <a16:creationId xmlns:a16="http://schemas.microsoft.com/office/drawing/2014/main" id="{A6F10783-E3F7-D479-5D55-591507C3516A}"/>
              </a:ext>
            </a:extLst>
          </p:cNvPr>
          <p:cNvGrpSpPr/>
          <p:nvPr/>
        </p:nvGrpSpPr>
        <p:grpSpPr>
          <a:xfrm>
            <a:off x="9058830" y="13627857"/>
            <a:ext cx="1041670" cy="914575"/>
            <a:chOff x="8089799" y="13548386"/>
            <a:chExt cx="1041670" cy="914575"/>
          </a:xfrm>
        </p:grpSpPr>
        <p:sp>
          <p:nvSpPr>
            <p:cNvPr id="169" name="Elipse 168">
              <a:extLst>
                <a:ext uri="{FF2B5EF4-FFF2-40B4-BE49-F238E27FC236}">
                  <a16:creationId xmlns:a16="http://schemas.microsoft.com/office/drawing/2014/main" id="{9051C942-87A5-C209-6510-CB78BD2B5BDA}"/>
                </a:ext>
              </a:extLst>
            </p:cNvPr>
            <p:cNvSpPr/>
            <p:nvPr/>
          </p:nvSpPr>
          <p:spPr>
            <a:xfrm>
              <a:off x="8513980" y="13548386"/>
              <a:ext cx="178987" cy="18063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70" name="Elipse 169">
              <a:extLst>
                <a:ext uri="{FF2B5EF4-FFF2-40B4-BE49-F238E27FC236}">
                  <a16:creationId xmlns:a16="http://schemas.microsoft.com/office/drawing/2014/main" id="{C357ECFA-25D1-130C-7109-5964D3499856}"/>
                </a:ext>
              </a:extLst>
            </p:cNvPr>
            <p:cNvSpPr/>
            <p:nvPr/>
          </p:nvSpPr>
          <p:spPr>
            <a:xfrm>
              <a:off x="8230315" y="13902432"/>
              <a:ext cx="178987" cy="18063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71" name="Elipse 170">
              <a:extLst>
                <a:ext uri="{FF2B5EF4-FFF2-40B4-BE49-F238E27FC236}">
                  <a16:creationId xmlns:a16="http://schemas.microsoft.com/office/drawing/2014/main" id="{B48B2D37-D1DC-61B4-2156-A07C4DFD6068}"/>
                </a:ext>
              </a:extLst>
            </p:cNvPr>
            <p:cNvSpPr/>
            <p:nvPr/>
          </p:nvSpPr>
          <p:spPr>
            <a:xfrm>
              <a:off x="8807670" y="13896882"/>
              <a:ext cx="178987" cy="18063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72" name="Elipse 171">
              <a:extLst>
                <a:ext uri="{FF2B5EF4-FFF2-40B4-BE49-F238E27FC236}">
                  <a16:creationId xmlns:a16="http://schemas.microsoft.com/office/drawing/2014/main" id="{F3155A59-ABEE-05B5-930B-019EC9813F00}"/>
                </a:ext>
              </a:extLst>
            </p:cNvPr>
            <p:cNvSpPr/>
            <p:nvPr/>
          </p:nvSpPr>
          <p:spPr>
            <a:xfrm>
              <a:off x="8089799" y="14282323"/>
              <a:ext cx="178987" cy="18063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73" name="Elipse 172">
              <a:extLst>
                <a:ext uri="{FF2B5EF4-FFF2-40B4-BE49-F238E27FC236}">
                  <a16:creationId xmlns:a16="http://schemas.microsoft.com/office/drawing/2014/main" id="{C9A0D44F-A980-E549-2D01-E0979A0874CA}"/>
                </a:ext>
              </a:extLst>
            </p:cNvPr>
            <p:cNvSpPr/>
            <p:nvPr/>
          </p:nvSpPr>
          <p:spPr>
            <a:xfrm>
              <a:off x="8355404" y="14282323"/>
              <a:ext cx="178987" cy="18063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74" name="Elipse 173">
              <a:extLst>
                <a:ext uri="{FF2B5EF4-FFF2-40B4-BE49-F238E27FC236}">
                  <a16:creationId xmlns:a16="http://schemas.microsoft.com/office/drawing/2014/main" id="{3DF7BD85-0F9E-CEBC-3613-2DD45C0F4CB1}"/>
                </a:ext>
              </a:extLst>
            </p:cNvPr>
            <p:cNvSpPr/>
            <p:nvPr/>
          </p:nvSpPr>
          <p:spPr>
            <a:xfrm>
              <a:off x="8667358" y="14278832"/>
              <a:ext cx="178987" cy="18063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75" name="Elipse 174">
              <a:extLst>
                <a:ext uri="{FF2B5EF4-FFF2-40B4-BE49-F238E27FC236}">
                  <a16:creationId xmlns:a16="http://schemas.microsoft.com/office/drawing/2014/main" id="{A8889D0C-B8FB-1FB2-4A80-53F11C348D34}"/>
                </a:ext>
              </a:extLst>
            </p:cNvPr>
            <p:cNvSpPr/>
            <p:nvPr/>
          </p:nvSpPr>
          <p:spPr>
            <a:xfrm>
              <a:off x="8952482" y="14278832"/>
              <a:ext cx="178987" cy="180638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04FF95D1-BB55-B97B-3CBB-5F1F16D7E8CA}"/>
                </a:ext>
              </a:extLst>
            </p:cNvPr>
            <p:cNvCxnSpPr>
              <a:cxnSpLocks/>
              <a:stCxn id="170" idx="7"/>
            </p:cNvCxnSpPr>
            <p:nvPr/>
          </p:nvCxnSpPr>
          <p:spPr>
            <a:xfrm flipV="1">
              <a:off x="8383090" y="13681362"/>
              <a:ext cx="145179" cy="2475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1171DCCB-497A-562C-3F2D-5557CDE5C796}"/>
                </a:ext>
              </a:extLst>
            </p:cNvPr>
            <p:cNvCxnSpPr>
              <a:stCxn id="169" idx="5"/>
              <a:endCxn id="171" idx="1"/>
            </p:cNvCxnSpPr>
            <p:nvPr/>
          </p:nvCxnSpPr>
          <p:spPr>
            <a:xfrm>
              <a:off x="8666755" y="13702570"/>
              <a:ext cx="167127" cy="2207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ctor recto 177">
              <a:extLst>
                <a:ext uri="{FF2B5EF4-FFF2-40B4-BE49-F238E27FC236}">
                  <a16:creationId xmlns:a16="http://schemas.microsoft.com/office/drawing/2014/main" id="{9A3B0E9A-120B-3F33-5C53-246C07611109}"/>
                </a:ext>
              </a:extLst>
            </p:cNvPr>
            <p:cNvCxnSpPr>
              <a:cxnSpLocks/>
              <a:stCxn id="172" idx="0"/>
              <a:endCxn id="170" idx="3"/>
            </p:cNvCxnSpPr>
            <p:nvPr/>
          </p:nvCxnSpPr>
          <p:spPr>
            <a:xfrm flipV="1">
              <a:off x="8179293" y="14056616"/>
              <a:ext cx="77234" cy="22570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EE723EB3-5C84-F5E3-CECB-E905E45CC605}"/>
                </a:ext>
              </a:extLst>
            </p:cNvPr>
            <p:cNvCxnSpPr>
              <a:cxnSpLocks/>
              <a:stCxn id="173" idx="0"/>
              <a:endCxn id="170" idx="5"/>
            </p:cNvCxnSpPr>
            <p:nvPr/>
          </p:nvCxnSpPr>
          <p:spPr>
            <a:xfrm flipH="1" flipV="1">
              <a:off x="8383090" y="14056616"/>
              <a:ext cx="61808" cy="22570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25F2BDBC-A417-C09F-7B31-CDB25692634B}"/>
                </a:ext>
              </a:extLst>
            </p:cNvPr>
            <p:cNvCxnSpPr>
              <a:cxnSpLocks/>
              <a:stCxn id="174" idx="0"/>
              <a:endCxn id="171" idx="3"/>
            </p:cNvCxnSpPr>
            <p:nvPr/>
          </p:nvCxnSpPr>
          <p:spPr>
            <a:xfrm flipV="1">
              <a:off x="8756852" y="14051066"/>
              <a:ext cx="77030" cy="2277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ector recto 180">
              <a:extLst>
                <a:ext uri="{FF2B5EF4-FFF2-40B4-BE49-F238E27FC236}">
                  <a16:creationId xmlns:a16="http://schemas.microsoft.com/office/drawing/2014/main" id="{DCC40361-ADCB-0D7D-DD37-51F5A2F2DD68}"/>
                </a:ext>
              </a:extLst>
            </p:cNvPr>
            <p:cNvCxnSpPr>
              <a:cxnSpLocks/>
              <a:stCxn id="175" idx="0"/>
              <a:endCxn id="171" idx="5"/>
            </p:cNvCxnSpPr>
            <p:nvPr/>
          </p:nvCxnSpPr>
          <p:spPr>
            <a:xfrm flipH="1" flipV="1">
              <a:off x="8960445" y="14051066"/>
              <a:ext cx="81531" cy="2277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upo 181">
            <a:extLst>
              <a:ext uri="{FF2B5EF4-FFF2-40B4-BE49-F238E27FC236}">
                <a16:creationId xmlns:a16="http://schemas.microsoft.com/office/drawing/2014/main" id="{A7C95F32-5F8D-D15D-06DA-42AFBE1B0E5D}"/>
              </a:ext>
            </a:extLst>
          </p:cNvPr>
          <p:cNvGrpSpPr/>
          <p:nvPr/>
        </p:nvGrpSpPr>
        <p:grpSpPr>
          <a:xfrm>
            <a:off x="10534849" y="13619867"/>
            <a:ext cx="1041670" cy="914575"/>
            <a:chOff x="8089799" y="13548386"/>
            <a:chExt cx="1041670" cy="914575"/>
          </a:xfrm>
        </p:grpSpPr>
        <p:sp>
          <p:nvSpPr>
            <p:cNvPr id="183" name="Elipse 182">
              <a:extLst>
                <a:ext uri="{FF2B5EF4-FFF2-40B4-BE49-F238E27FC236}">
                  <a16:creationId xmlns:a16="http://schemas.microsoft.com/office/drawing/2014/main" id="{36D5A457-5D5A-B2C9-206F-67322D0134E0}"/>
                </a:ext>
              </a:extLst>
            </p:cNvPr>
            <p:cNvSpPr/>
            <p:nvPr/>
          </p:nvSpPr>
          <p:spPr>
            <a:xfrm>
              <a:off x="8513980" y="13548386"/>
              <a:ext cx="178987" cy="18063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84" name="Elipse 183">
              <a:extLst>
                <a:ext uri="{FF2B5EF4-FFF2-40B4-BE49-F238E27FC236}">
                  <a16:creationId xmlns:a16="http://schemas.microsoft.com/office/drawing/2014/main" id="{4D7156E9-9B3D-E67E-8167-958FEA000355}"/>
                </a:ext>
              </a:extLst>
            </p:cNvPr>
            <p:cNvSpPr/>
            <p:nvPr/>
          </p:nvSpPr>
          <p:spPr>
            <a:xfrm>
              <a:off x="8230315" y="13902432"/>
              <a:ext cx="178987" cy="18063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85" name="Elipse 184">
              <a:extLst>
                <a:ext uri="{FF2B5EF4-FFF2-40B4-BE49-F238E27FC236}">
                  <a16:creationId xmlns:a16="http://schemas.microsoft.com/office/drawing/2014/main" id="{81C48AFB-D025-21FA-7273-3C696E4FDE6E}"/>
                </a:ext>
              </a:extLst>
            </p:cNvPr>
            <p:cNvSpPr/>
            <p:nvPr/>
          </p:nvSpPr>
          <p:spPr>
            <a:xfrm>
              <a:off x="8807670" y="13896882"/>
              <a:ext cx="178987" cy="18063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86" name="Elipse 185">
              <a:extLst>
                <a:ext uri="{FF2B5EF4-FFF2-40B4-BE49-F238E27FC236}">
                  <a16:creationId xmlns:a16="http://schemas.microsoft.com/office/drawing/2014/main" id="{0A37122C-3BB4-B437-EE10-0A3DBF59E79E}"/>
                </a:ext>
              </a:extLst>
            </p:cNvPr>
            <p:cNvSpPr/>
            <p:nvPr/>
          </p:nvSpPr>
          <p:spPr>
            <a:xfrm>
              <a:off x="8089799" y="14282323"/>
              <a:ext cx="178987" cy="180638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87" name="Elipse 186">
              <a:extLst>
                <a:ext uri="{FF2B5EF4-FFF2-40B4-BE49-F238E27FC236}">
                  <a16:creationId xmlns:a16="http://schemas.microsoft.com/office/drawing/2014/main" id="{3D12EDA5-2301-E5CD-D2AA-4D6FEDB63124}"/>
                </a:ext>
              </a:extLst>
            </p:cNvPr>
            <p:cNvSpPr/>
            <p:nvPr/>
          </p:nvSpPr>
          <p:spPr>
            <a:xfrm>
              <a:off x="8355404" y="14282323"/>
              <a:ext cx="178987" cy="18063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88" name="Elipse 187">
              <a:extLst>
                <a:ext uri="{FF2B5EF4-FFF2-40B4-BE49-F238E27FC236}">
                  <a16:creationId xmlns:a16="http://schemas.microsoft.com/office/drawing/2014/main" id="{8E09C51F-9229-E3B6-F69F-F22E18C79123}"/>
                </a:ext>
              </a:extLst>
            </p:cNvPr>
            <p:cNvSpPr/>
            <p:nvPr/>
          </p:nvSpPr>
          <p:spPr>
            <a:xfrm>
              <a:off x="8667358" y="14278832"/>
              <a:ext cx="178987" cy="180638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89" name="Elipse 188">
              <a:extLst>
                <a:ext uri="{FF2B5EF4-FFF2-40B4-BE49-F238E27FC236}">
                  <a16:creationId xmlns:a16="http://schemas.microsoft.com/office/drawing/2014/main" id="{50799459-E18B-BC9C-A38C-D55C15476481}"/>
                </a:ext>
              </a:extLst>
            </p:cNvPr>
            <p:cNvSpPr/>
            <p:nvPr/>
          </p:nvSpPr>
          <p:spPr>
            <a:xfrm>
              <a:off x="8952482" y="14278832"/>
              <a:ext cx="178987" cy="180638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190" name="Conector recto 189">
              <a:extLst>
                <a:ext uri="{FF2B5EF4-FFF2-40B4-BE49-F238E27FC236}">
                  <a16:creationId xmlns:a16="http://schemas.microsoft.com/office/drawing/2014/main" id="{6CA28440-88CF-42F4-F1FE-F7B2A0B0658B}"/>
                </a:ext>
              </a:extLst>
            </p:cNvPr>
            <p:cNvCxnSpPr>
              <a:cxnSpLocks/>
              <a:stCxn id="184" idx="7"/>
            </p:cNvCxnSpPr>
            <p:nvPr/>
          </p:nvCxnSpPr>
          <p:spPr>
            <a:xfrm flipV="1">
              <a:off x="8383090" y="13681362"/>
              <a:ext cx="145179" cy="2475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ector recto 190">
              <a:extLst>
                <a:ext uri="{FF2B5EF4-FFF2-40B4-BE49-F238E27FC236}">
                  <a16:creationId xmlns:a16="http://schemas.microsoft.com/office/drawing/2014/main" id="{B6434DC6-D890-B9C1-3ABC-BE68E5094BB6}"/>
                </a:ext>
              </a:extLst>
            </p:cNvPr>
            <p:cNvCxnSpPr>
              <a:stCxn id="183" idx="5"/>
              <a:endCxn id="185" idx="1"/>
            </p:cNvCxnSpPr>
            <p:nvPr/>
          </p:nvCxnSpPr>
          <p:spPr>
            <a:xfrm>
              <a:off x="8666755" y="13702570"/>
              <a:ext cx="167127" cy="2207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ector recto 191">
              <a:extLst>
                <a:ext uri="{FF2B5EF4-FFF2-40B4-BE49-F238E27FC236}">
                  <a16:creationId xmlns:a16="http://schemas.microsoft.com/office/drawing/2014/main" id="{FAB7CB59-CFA5-9DC9-52D8-C5C769D4B1DB}"/>
                </a:ext>
              </a:extLst>
            </p:cNvPr>
            <p:cNvCxnSpPr>
              <a:cxnSpLocks/>
              <a:stCxn id="186" idx="0"/>
              <a:endCxn id="184" idx="3"/>
            </p:cNvCxnSpPr>
            <p:nvPr/>
          </p:nvCxnSpPr>
          <p:spPr>
            <a:xfrm flipV="1">
              <a:off x="8179293" y="14056616"/>
              <a:ext cx="77234" cy="22570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ector recto 192">
              <a:extLst>
                <a:ext uri="{FF2B5EF4-FFF2-40B4-BE49-F238E27FC236}">
                  <a16:creationId xmlns:a16="http://schemas.microsoft.com/office/drawing/2014/main" id="{363E10AD-53A5-7583-3335-D2328F71824D}"/>
                </a:ext>
              </a:extLst>
            </p:cNvPr>
            <p:cNvCxnSpPr>
              <a:cxnSpLocks/>
              <a:stCxn id="187" idx="0"/>
              <a:endCxn id="184" idx="5"/>
            </p:cNvCxnSpPr>
            <p:nvPr/>
          </p:nvCxnSpPr>
          <p:spPr>
            <a:xfrm flipH="1" flipV="1">
              <a:off x="8383090" y="14056616"/>
              <a:ext cx="61808" cy="22570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ector recto 193">
              <a:extLst>
                <a:ext uri="{FF2B5EF4-FFF2-40B4-BE49-F238E27FC236}">
                  <a16:creationId xmlns:a16="http://schemas.microsoft.com/office/drawing/2014/main" id="{12CDB960-D855-9859-B2EC-45001DCC9E42}"/>
                </a:ext>
              </a:extLst>
            </p:cNvPr>
            <p:cNvCxnSpPr>
              <a:cxnSpLocks/>
              <a:stCxn id="188" idx="0"/>
              <a:endCxn id="185" idx="3"/>
            </p:cNvCxnSpPr>
            <p:nvPr/>
          </p:nvCxnSpPr>
          <p:spPr>
            <a:xfrm flipV="1">
              <a:off x="8756852" y="14051066"/>
              <a:ext cx="77030" cy="2277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ector recto 194">
              <a:extLst>
                <a:ext uri="{FF2B5EF4-FFF2-40B4-BE49-F238E27FC236}">
                  <a16:creationId xmlns:a16="http://schemas.microsoft.com/office/drawing/2014/main" id="{86C7DB93-154F-032F-9E52-048B72CF20F4}"/>
                </a:ext>
              </a:extLst>
            </p:cNvPr>
            <p:cNvCxnSpPr>
              <a:cxnSpLocks/>
              <a:stCxn id="189" idx="0"/>
              <a:endCxn id="185" idx="5"/>
            </p:cNvCxnSpPr>
            <p:nvPr/>
          </p:nvCxnSpPr>
          <p:spPr>
            <a:xfrm flipH="1" flipV="1">
              <a:off x="8960445" y="14051066"/>
              <a:ext cx="81531" cy="2277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CuadroTexto 195">
            <a:extLst>
              <a:ext uri="{FF2B5EF4-FFF2-40B4-BE49-F238E27FC236}">
                <a16:creationId xmlns:a16="http://schemas.microsoft.com/office/drawing/2014/main" id="{F45655E5-39DC-DA9D-4751-62A81680B817}"/>
              </a:ext>
            </a:extLst>
          </p:cNvPr>
          <p:cNvSpPr txBox="1"/>
          <p:nvPr/>
        </p:nvSpPr>
        <p:spPr>
          <a:xfrm>
            <a:off x="10026341" y="14298173"/>
            <a:ext cx="5398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0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…</a:t>
            </a:r>
          </a:p>
        </p:txBody>
      </p:sp>
      <p:sp>
        <p:nvSpPr>
          <p:cNvPr id="197" name="CuadroTexto 196">
            <a:extLst>
              <a:ext uri="{FF2B5EF4-FFF2-40B4-BE49-F238E27FC236}">
                <a16:creationId xmlns:a16="http://schemas.microsoft.com/office/drawing/2014/main" id="{2FA9B707-BF2B-377A-2554-00689A3E2986}"/>
              </a:ext>
            </a:extLst>
          </p:cNvPr>
          <p:cNvSpPr txBox="1"/>
          <p:nvPr/>
        </p:nvSpPr>
        <p:spPr>
          <a:xfrm>
            <a:off x="7831931" y="13422258"/>
            <a:ext cx="9618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0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Tree 1</a:t>
            </a:r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E1DEEBF2-E17C-D640-B0A3-0A278D46B8A4}"/>
              </a:ext>
            </a:extLst>
          </p:cNvPr>
          <p:cNvSpPr txBox="1"/>
          <p:nvPr/>
        </p:nvSpPr>
        <p:spPr>
          <a:xfrm>
            <a:off x="9083700" y="13422258"/>
            <a:ext cx="9618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0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Tree 2</a:t>
            </a:r>
          </a:p>
        </p:txBody>
      </p:sp>
      <p:sp>
        <p:nvSpPr>
          <p:cNvPr id="199" name="CuadroTexto 198">
            <a:extLst>
              <a:ext uri="{FF2B5EF4-FFF2-40B4-BE49-F238E27FC236}">
                <a16:creationId xmlns:a16="http://schemas.microsoft.com/office/drawing/2014/main" id="{D17D2D00-97C6-F913-017B-062402E742BF}"/>
              </a:ext>
            </a:extLst>
          </p:cNvPr>
          <p:cNvSpPr txBox="1"/>
          <p:nvPr/>
        </p:nvSpPr>
        <p:spPr>
          <a:xfrm>
            <a:off x="10537154" y="13423571"/>
            <a:ext cx="9618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0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Tree </a:t>
            </a:r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19113418-218D-7628-8523-B2B8AF94EBCE}"/>
              </a:ext>
            </a:extLst>
          </p:cNvPr>
          <p:cNvSpPr txBox="1"/>
          <p:nvPr/>
        </p:nvSpPr>
        <p:spPr>
          <a:xfrm>
            <a:off x="7867057" y="14508737"/>
            <a:ext cx="3116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Booststrap</a:t>
            </a:r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simples + Random </a:t>
            </a:r>
            <a:r>
              <a:rPr lang="es-CL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feature</a:t>
            </a:r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selection</a:t>
            </a:r>
            <a:endParaRPr lang="es-CL" sz="1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01" name="Conector recto 200">
            <a:extLst>
              <a:ext uri="{FF2B5EF4-FFF2-40B4-BE49-F238E27FC236}">
                <a16:creationId xmlns:a16="http://schemas.microsoft.com/office/drawing/2014/main" id="{577F98C9-A26A-9845-A8F5-8FB60689C128}"/>
              </a:ext>
            </a:extLst>
          </p:cNvPr>
          <p:cNvCxnSpPr>
            <a:cxnSpLocks/>
            <a:endCxn id="130" idx="2"/>
          </p:cNvCxnSpPr>
          <p:nvPr/>
        </p:nvCxnSpPr>
        <p:spPr>
          <a:xfrm>
            <a:off x="9322993" y="14724899"/>
            <a:ext cx="1" cy="16177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2CFCD1B4-B96E-D0BD-85AB-9C8D0C0BD078}"/>
              </a:ext>
            </a:extLst>
          </p:cNvPr>
          <p:cNvSpPr txBox="1"/>
          <p:nvPr/>
        </p:nvSpPr>
        <p:spPr>
          <a:xfrm>
            <a:off x="6943827" y="14765737"/>
            <a:ext cx="2412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0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b.2. </a:t>
            </a:r>
            <a:r>
              <a:rPr lang="es-CL" sz="10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Prediction</a:t>
            </a:r>
            <a:endParaRPr lang="es-CL" sz="10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es-CL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majority</a:t>
            </a:r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vote)</a:t>
            </a:r>
          </a:p>
        </p:txBody>
      </p:sp>
      <p:sp>
        <p:nvSpPr>
          <p:cNvPr id="207" name="CuadroTexto 206">
            <a:extLst>
              <a:ext uri="{FF2B5EF4-FFF2-40B4-BE49-F238E27FC236}">
                <a16:creationId xmlns:a16="http://schemas.microsoft.com/office/drawing/2014/main" id="{30B1D6D4-8D2E-AD6D-23DF-22307774CF71}"/>
              </a:ext>
            </a:extLst>
          </p:cNvPr>
          <p:cNvSpPr txBox="1"/>
          <p:nvPr/>
        </p:nvSpPr>
        <p:spPr>
          <a:xfrm>
            <a:off x="9324288" y="14756992"/>
            <a:ext cx="24121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0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b.3. Performance </a:t>
            </a:r>
            <a:r>
              <a:rPr lang="es-CL" sz="10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Evaluation</a:t>
            </a:r>
            <a:endParaRPr lang="es-CL" sz="10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r>
              <a:rPr lang="es-CL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Nested</a:t>
            </a:r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Cross-</a:t>
            </a:r>
            <a:r>
              <a:rPr lang="es-CL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validation</a:t>
            </a:r>
            <a:endParaRPr lang="es-CL" sz="1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es-CL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e.g</a:t>
            </a:r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., 5-fold)</a:t>
            </a:r>
          </a:p>
        </p:txBody>
      </p:sp>
      <p:cxnSp>
        <p:nvCxnSpPr>
          <p:cNvPr id="211" name="Conector recto 210">
            <a:extLst>
              <a:ext uri="{FF2B5EF4-FFF2-40B4-BE49-F238E27FC236}">
                <a16:creationId xmlns:a16="http://schemas.microsoft.com/office/drawing/2014/main" id="{77DDD25E-9E67-6B33-D8B7-9BA17E7603C2}"/>
              </a:ext>
            </a:extLst>
          </p:cNvPr>
          <p:cNvCxnSpPr/>
          <p:nvPr/>
        </p:nvCxnSpPr>
        <p:spPr>
          <a:xfrm>
            <a:off x="7301228" y="15250788"/>
            <a:ext cx="0" cy="8056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ector recto 211">
            <a:extLst>
              <a:ext uri="{FF2B5EF4-FFF2-40B4-BE49-F238E27FC236}">
                <a16:creationId xmlns:a16="http://schemas.microsoft.com/office/drawing/2014/main" id="{01E14D56-3BE7-5E9E-19A6-71BE0366D85F}"/>
              </a:ext>
            </a:extLst>
          </p:cNvPr>
          <p:cNvCxnSpPr>
            <a:cxnSpLocks/>
          </p:cNvCxnSpPr>
          <p:nvPr/>
        </p:nvCxnSpPr>
        <p:spPr>
          <a:xfrm flipH="1">
            <a:off x="7287074" y="16048924"/>
            <a:ext cx="1164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CuadroTexto 213">
            <a:extLst>
              <a:ext uri="{FF2B5EF4-FFF2-40B4-BE49-F238E27FC236}">
                <a16:creationId xmlns:a16="http://schemas.microsoft.com/office/drawing/2014/main" id="{C4E7D890-051D-E610-9D45-7A5F3E96FFB8}"/>
              </a:ext>
            </a:extLst>
          </p:cNvPr>
          <p:cNvSpPr txBox="1"/>
          <p:nvPr/>
        </p:nvSpPr>
        <p:spPr>
          <a:xfrm>
            <a:off x="7852454" y="16074263"/>
            <a:ext cx="17971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Predicted</a:t>
            </a:r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class</a:t>
            </a:r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: LGG</a:t>
            </a: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4F789A92-6329-8D81-E515-4764E1E551AE}"/>
              </a:ext>
            </a:extLst>
          </p:cNvPr>
          <p:cNvSpPr/>
          <p:nvPr/>
        </p:nvSpPr>
        <p:spPr>
          <a:xfrm>
            <a:off x="7429740" y="15422880"/>
            <a:ext cx="235329" cy="61788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6" name="Rectángulo 215">
            <a:extLst>
              <a:ext uri="{FF2B5EF4-FFF2-40B4-BE49-F238E27FC236}">
                <a16:creationId xmlns:a16="http://schemas.microsoft.com/office/drawing/2014/main" id="{3E087C27-8963-3E71-28E2-A73026A12397}"/>
              </a:ext>
            </a:extLst>
          </p:cNvPr>
          <p:cNvSpPr/>
          <p:nvPr/>
        </p:nvSpPr>
        <p:spPr>
          <a:xfrm>
            <a:off x="7861257" y="15657222"/>
            <a:ext cx="235329" cy="375385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7" name="Rectángulo 216">
            <a:extLst>
              <a:ext uri="{FF2B5EF4-FFF2-40B4-BE49-F238E27FC236}">
                <a16:creationId xmlns:a16="http://schemas.microsoft.com/office/drawing/2014/main" id="{2509D80A-CC1A-A786-A0A5-7FC338B0F0A2}"/>
              </a:ext>
            </a:extLst>
          </p:cNvPr>
          <p:cNvSpPr/>
          <p:nvPr/>
        </p:nvSpPr>
        <p:spPr>
          <a:xfrm>
            <a:off x="9425437" y="15339278"/>
            <a:ext cx="870833" cy="91561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8" name="CuadroTexto 217">
            <a:extLst>
              <a:ext uri="{FF2B5EF4-FFF2-40B4-BE49-F238E27FC236}">
                <a16:creationId xmlns:a16="http://schemas.microsoft.com/office/drawing/2014/main" id="{B3B0ED70-63F4-B9D6-677D-5C69B0DA2C9A}"/>
              </a:ext>
            </a:extLst>
          </p:cNvPr>
          <p:cNvSpPr txBox="1"/>
          <p:nvPr/>
        </p:nvSpPr>
        <p:spPr>
          <a:xfrm>
            <a:off x="9356014" y="15341178"/>
            <a:ext cx="897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dirty="0" err="1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Outer</a:t>
            </a:r>
            <a:r>
              <a:rPr lang="es-CL" sz="1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CV </a:t>
            </a:r>
          </a:p>
        </p:txBody>
      </p:sp>
      <p:sp>
        <p:nvSpPr>
          <p:cNvPr id="219" name="Rectángulo 218">
            <a:extLst>
              <a:ext uri="{FF2B5EF4-FFF2-40B4-BE49-F238E27FC236}">
                <a16:creationId xmlns:a16="http://schemas.microsoft.com/office/drawing/2014/main" id="{E47C9B63-DB42-F065-A768-5BE0B695D171}"/>
              </a:ext>
            </a:extLst>
          </p:cNvPr>
          <p:cNvSpPr/>
          <p:nvPr/>
        </p:nvSpPr>
        <p:spPr>
          <a:xfrm>
            <a:off x="9564679" y="15640050"/>
            <a:ext cx="674696" cy="5018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0" name="CuadroTexto 219">
            <a:extLst>
              <a:ext uri="{FF2B5EF4-FFF2-40B4-BE49-F238E27FC236}">
                <a16:creationId xmlns:a16="http://schemas.microsoft.com/office/drawing/2014/main" id="{3A19E4FE-3278-4CA8-A3F5-23C930666D3E}"/>
              </a:ext>
            </a:extLst>
          </p:cNvPr>
          <p:cNvSpPr txBox="1"/>
          <p:nvPr/>
        </p:nvSpPr>
        <p:spPr>
          <a:xfrm>
            <a:off x="9458502" y="15612400"/>
            <a:ext cx="807774" cy="5539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L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Inner</a:t>
            </a:r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CV</a:t>
            </a:r>
          </a:p>
          <a:p>
            <a:endParaRPr lang="es-CL" sz="1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SFS + RF</a:t>
            </a:r>
          </a:p>
        </p:txBody>
      </p:sp>
      <p:cxnSp>
        <p:nvCxnSpPr>
          <p:cNvPr id="222" name="Conector recto de flecha 221">
            <a:extLst>
              <a:ext uri="{FF2B5EF4-FFF2-40B4-BE49-F238E27FC236}">
                <a16:creationId xmlns:a16="http://schemas.microsoft.com/office/drawing/2014/main" id="{CB8388C9-D2B1-B407-F0F6-4D29306952E9}"/>
              </a:ext>
            </a:extLst>
          </p:cNvPr>
          <p:cNvCxnSpPr>
            <a:cxnSpLocks/>
          </p:cNvCxnSpPr>
          <p:nvPr/>
        </p:nvCxnSpPr>
        <p:spPr>
          <a:xfrm>
            <a:off x="10360637" y="15528076"/>
            <a:ext cx="5078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CuadroTexto 222">
            <a:extLst>
              <a:ext uri="{FF2B5EF4-FFF2-40B4-BE49-F238E27FC236}">
                <a16:creationId xmlns:a16="http://schemas.microsoft.com/office/drawing/2014/main" id="{A2264E2A-6A59-6DF6-219A-008F9033BD87}"/>
              </a:ext>
            </a:extLst>
          </p:cNvPr>
          <p:cNvSpPr txBox="1"/>
          <p:nvPr/>
        </p:nvSpPr>
        <p:spPr>
          <a:xfrm>
            <a:off x="10801311" y="15374359"/>
            <a:ext cx="8525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Test Fold</a:t>
            </a:r>
          </a:p>
        </p:txBody>
      </p:sp>
      <p:cxnSp>
        <p:nvCxnSpPr>
          <p:cNvPr id="224" name="Conector recto de flecha 223">
            <a:extLst>
              <a:ext uri="{FF2B5EF4-FFF2-40B4-BE49-F238E27FC236}">
                <a16:creationId xmlns:a16="http://schemas.microsoft.com/office/drawing/2014/main" id="{0608F49B-EE82-458A-2610-1CFBFB5A472A}"/>
              </a:ext>
            </a:extLst>
          </p:cNvPr>
          <p:cNvCxnSpPr>
            <a:cxnSpLocks/>
          </p:cNvCxnSpPr>
          <p:nvPr/>
        </p:nvCxnSpPr>
        <p:spPr>
          <a:xfrm>
            <a:off x="11198837" y="15680476"/>
            <a:ext cx="0" cy="3521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CuadroTexto 225">
            <a:extLst>
              <a:ext uri="{FF2B5EF4-FFF2-40B4-BE49-F238E27FC236}">
                <a16:creationId xmlns:a16="http://schemas.microsoft.com/office/drawing/2014/main" id="{E43BD77F-48FB-3895-2BED-714181D8BF30}"/>
              </a:ext>
            </a:extLst>
          </p:cNvPr>
          <p:cNvSpPr txBox="1"/>
          <p:nvPr/>
        </p:nvSpPr>
        <p:spPr>
          <a:xfrm>
            <a:off x="10743555" y="16034639"/>
            <a:ext cx="1450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e.g</a:t>
            </a:r>
            <a:r>
              <a:rPr lang="es-CL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., </a:t>
            </a:r>
            <a:r>
              <a:rPr lang="es-CL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accuracy</a:t>
            </a:r>
            <a:endParaRPr lang="es-CL" sz="1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29" name="Rectángulo 228">
            <a:extLst>
              <a:ext uri="{FF2B5EF4-FFF2-40B4-BE49-F238E27FC236}">
                <a16:creationId xmlns:a16="http://schemas.microsoft.com/office/drawing/2014/main" id="{801A89B7-94C5-5A4D-5F25-3575FA55D795}"/>
              </a:ext>
            </a:extLst>
          </p:cNvPr>
          <p:cNvSpPr/>
          <p:nvPr/>
        </p:nvSpPr>
        <p:spPr>
          <a:xfrm>
            <a:off x="7184859" y="9639452"/>
            <a:ext cx="765341" cy="221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0" name="Rectángulo 229">
            <a:extLst>
              <a:ext uri="{FF2B5EF4-FFF2-40B4-BE49-F238E27FC236}">
                <a16:creationId xmlns:a16="http://schemas.microsoft.com/office/drawing/2014/main" id="{32FF832B-D570-26B5-1DE6-CE97DFBA6ACA}"/>
              </a:ext>
            </a:extLst>
          </p:cNvPr>
          <p:cNvSpPr/>
          <p:nvPr/>
        </p:nvSpPr>
        <p:spPr>
          <a:xfrm>
            <a:off x="6784667" y="10117024"/>
            <a:ext cx="765341" cy="221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1" name="Rectángulo 230">
            <a:extLst>
              <a:ext uri="{FF2B5EF4-FFF2-40B4-BE49-F238E27FC236}">
                <a16:creationId xmlns:a16="http://schemas.microsoft.com/office/drawing/2014/main" id="{9E9A5EFA-45B9-E683-D8A5-D61FEEE31561}"/>
              </a:ext>
            </a:extLst>
          </p:cNvPr>
          <p:cNvSpPr/>
          <p:nvPr/>
        </p:nvSpPr>
        <p:spPr>
          <a:xfrm>
            <a:off x="7027218" y="9888821"/>
            <a:ext cx="765341" cy="221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2" name="Rectángulo 231">
            <a:extLst>
              <a:ext uri="{FF2B5EF4-FFF2-40B4-BE49-F238E27FC236}">
                <a16:creationId xmlns:a16="http://schemas.microsoft.com/office/drawing/2014/main" id="{F3822E68-DFC0-B079-E281-6363F0C19411}"/>
              </a:ext>
            </a:extLst>
          </p:cNvPr>
          <p:cNvSpPr/>
          <p:nvPr/>
        </p:nvSpPr>
        <p:spPr>
          <a:xfrm>
            <a:off x="4335955" y="9824290"/>
            <a:ext cx="765341" cy="4755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43" name="Grupo 242">
            <a:extLst>
              <a:ext uri="{FF2B5EF4-FFF2-40B4-BE49-F238E27FC236}">
                <a16:creationId xmlns:a16="http://schemas.microsoft.com/office/drawing/2014/main" id="{668E71CE-9FCC-4990-3271-6B3838437D60}"/>
              </a:ext>
            </a:extLst>
          </p:cNvPr>
          <p:cNvGrpSpPr/>
          <p:nvPr/>
        </p:nvGrpSpPr>
        <p:grpSpPr>
          <a:xfrm>
            <a:off x="4418088" y="10373810"/>
            <a:ext cx="178987" cy="641059"/>
            <a:chOff x="5812495" y="10379160"/>
            <a:chExt cx="178987" cy="641059"/>
          </a:xfrm>
        </p:grpSpPr>
        <p:sp>
          <p:nvSpPr>
            <p:cNvPr id="238" name="Elipse 237">
              <a:extLst>
                <a:ext uri="{FF2B5EF4-FFF2-40B4-BE49-F238E27FC236}">
                  <a16:creationId xmlns:a16="http://schemas.microsoft.com/office/drawing/2014/main" id="{8D3663D8-9FD8-2EE9-FF29-6ACD06C4576C}"/>
                </a:ext>
              </a:extLst>
            </p:cNvPr>
            <p:cNvSpPr/>
            <p:nvPr/>
          </p:nvSpPr>
          <p:spPr>
            <a:xfrm>
              <a:off x="5812495" y="10379160"/>
              <a:ext cx="178987" cy="180638"/>
            </a:xfrm>
            <a:prstGeom prst="ellipse">
              <a:avLst/>
            </a:prstGeom>
            <a:solidFill>
              <a:srgbClr val="E45050"/>
            </a:solidFill>
            <a:ln>
              <a:solidFill>
                <a:srgbClr val="E4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239" name="Elipse 238">
              <a:extLst>
                <a:ext uri="{FF2B5EF4-FFF2-40B4-BE49-F238E27FC236}">
                  <a16:creationId xmlns:a16="http://schemas.microsoft.com/office/drawing/2014/main" id="{B0391923-E94A-B188-AE34-13DFCF63C547}"/>
                </a:ext>
              </a:extLst>
            </p:cNvPr>
            <p:cNvSpPr/>
            <p:nvPr/>
          </p:nvSpPr>
          <p:spPr>
            <a:xfrm>
              <a:off x="5812495" y="10617889"/>
              <a:ext cx="178987" cy="180638"/>
            </a:xfrm>
            <a:prstGeom prst="ellipse">
              <a:avLst/>
            </a:prstGeom>
            <a:solidFill>
              <a:srgbClr val="71D365"/>
            </a:solidFill>
            <a:ln>
              <a:solidFill>
                <a:srgbClr val="71D3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240" name="Elipse 239">
              <a:extLst>
                <a:ext uri="{FF2B5EF4-FFF2-40B4-BE49-F238E27FC236}">
                  <a16:creationId xmlns:a16="http://schemas.microsoft.com/office/drawing/2014/main" id="{38401E79-35E0-7E2B-3885-5A467F656061}"/>
                </a:ext>
              </a:extLst>
            </p:cNvPr>
            <p:cNvSpPr/>
            <p:nvPr/>
          </p:nvSpPr>
          <p:spPr>
            <a:xfrm>
              <a:off x="5812495" y="10839581"/>
              <a:ext cx="178987" cy="180638"/>
            </a:xfrm>
            <a:prstGeom prst="ellipse">
              <a:avLst/>
            </a:prstGeom>
            <a:solidFill>
              <a:srgbClr val="3A4480"/>
            </a:solidFill>
            <a:ln>
              <a:solidFill>
                <a:srgbClr val="3A44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</p:grpSp>
      <p:sp>
        <p:nvSpPr>
          <p:cNvPr id="242" name="Rectangle 2">
            <a:extLst>
              <a:ext uri="{FF2B5EF4-FFF2-40B4-BE49-F238E27FC236}">
                <a16:creationId xmlns:a16="http://schemas.microsoft.com/office/drawing/2014/main" id="{42C187BB-C5DA-A948-88F1-8FBA0E96F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043" y="10301090"/>
            <a:ext cx="3047629" cy="759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Red = </a:t>
            </a:r>
            <a:r>
              <a:rPr kumimoji="0" lang="es-CL" altLang="es-CL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left-to-right</a:t>
            </a:r>
            <a:r>
              <a:rPr kumimoji="0" lang="es-CL" altLang="es-CL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kumimoji="0" lang="es-CL" altLang="es-CL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orientation</a:t>
            </a:r>
            <a:r>
              <a:rPr kumimoji="0" lang="es-CL" altLang="es-CL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(X-axis)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Green = anterior-</a:t>
            </a:r>
            <a:r>
              <a:rPr kumimoji="0" lang="es-CL" altLang="es-CL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to</a:t>
            </a:r>
            <a:r>
              <a:rPr kumimoji="0" lang="es-CL" altLang="es-CL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-posterior </a:t>
            </a:r>
            <a:r>
              <a:rPr kumimoji="0" lang="es-CL" altLang="es-CL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orientation</a:t>
            </a:r>
            <a:r>
              <a:rPr kumimoji="0" lang="es-CL" altLang="es-CL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(Y-axis)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Blue = superior-</a:t>
            </a:r>
            <a:r>
              <a:rPr kumimoji="0" lang="es-CL" altLang="es-CL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to</a:t>
            </a:r>
            <a:r>
              <a:rPr kumimoji="0" lang="es-CL" altLang="es-CL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-inferior </a:t>
            </a:r>
            <a:r>
              <a:rPr kumimoji="0" lang="es-CL" altLang="es-CL" sz="1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orientation</a:t>
            </a:r>
            <a:r>
              <a:rPr kumimoji="0" lang="es-CL" altLang="es-CL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(Z-axis)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7FCE2BF-FD0D-F232-CBDE-C15A2A1BDB01}"/>
              </a:ext>
            </a:extLst>
          </p:cNvPr>
          <p:cNvSpPr/>
          <p:nvPr/>
        </p:nvSpPr>
        <p:spPr>
          <a:xfrm>
            <a:off x="6726520" y="9644390"/>
            <a:ext cx="765341" cy="4755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1983BC2-0D6E-DF76-9B96-05813623B000}"/>
              </a:ext>
            </a:extLst>
          </p:cNvPr>
          <p:cNvSpPr/>
          <p:nvPr/>
        </p:nvSpPr>
        <p:spPr>
          <a:xfrm>
            <a:off x="6743913" y="7897532"/>
            <a:ext cx="765341" cy="4755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DC98401-FE46-BAC3-284B-08372568591F}"/>
              </a:ext>
            </a:extLst>
          </p:cNvPr>
          <p:cNvSpPr txBox="1"/>
          <p:nvPr/>
        </p:nvSpPr>
        <p:spPr>
          <a:xfrm>
            <a:off x="4379686" y="8814191"/>
            <a:ext cx="9078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L" dirty="0"/>
          </a:p>
        </p:txBody>
      </p:sp>
      <p:sp>
        <p:nvSpPr>
          <p:cNvPr id="44" name="Rectangle 1">
            <a:extLst>
              <a:ext uri="{FF2B5EF4-FFF2-40B4-BE49-F238E27FC236}">
                <a16:creationId xmlns:a16="http://schemas.microsoft.com/office/drawing/2014/main" id="{448D7D29-506E-0668-9818-6E2A26EF7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00066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315C9109-9EF1-5F29-F009-DBD57F5B7EF4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523" b="50564"/>
          <a:stretch>
            <a:fillRect/>
          </a:stretch>
        </p:blipFill>
        <p:spPr>
          <a:xfrm rot="21331615">
            <a:off x="3676138" y="7146766"/>
            <a:ext cx="3540354" cy="3303582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5A14AB8B-4362-016B-F393-F32DBACA3C6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851" y="4076464"/>
            <a:ext cx="1235775" cy="1554204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D98EAAFC-85C5-21FD-E3DE-624C552A50CF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50" t="23330" r="68398" b="62743"/>
          <a:stretch>
            <a:fillRect/>
          </a:stretch>
        </p:blipFill>
        <p:spPr>
          <a:xfrm flipH="1">
            <a:off x="14790331" y="2653123"/>
            <a:ext cx="1538618" cy="1548003"/>
          </a:xfrm>
          <a:prstGeom prst="rect">
            <a:avLst/>
          </a:prstGeom>
        </p:spPr>
      </p:pic>
      <p:sp>
        <p:nvSpPr>
          <p:cNvPr id="55" name="CuadroTexto 54">
            <a:extLst>
              <a:ext uri="{FF2B5EF4-FFF2-40B4-BE49-F238E27FC236}">
                <a16:creationId xmlns:a16="http://schemas.microsoft.com/office/drawing/2014/main" id="{D7FBB79C-88C8-38D2-9F92-E3F10BC0237A}"/>
              </a:ext>
            </a:extLst>
          </p:cNvPr>
          <p:cNvSpPr txBox="1"/>
          <p:nvPr/>
        </p:nvSpPr>
        <p:spPr>
          <a:xfrm>
            <a:off x="13834834" y="4252185"/>
            <a:ext cx="3362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Subject-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specific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images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were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co-registered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to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a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common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s-CL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anatomical</a:t>
            </a:r>
            <a:r>
              <a:rPr lang="es-CL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atlas</a:t>
            </a:r>
          </a:p>
        </p:txBody>
      </p:sp>
    </p:spTree>
    <p:extLst>
      <p:ext uri="{BB962C8B-B14F-4D97-AF65-F5344CB8AC3E}">
        <p14:creationId xmlns:p14="http://schemas.microsoft.com/office/powerpoint/2010/main" val="41836863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303</TotalTime>
  <Words>257</Words>
  <Application>Microsoft Office PowerPoint</Application>
  <PresentationFormat>Personalizado</PresentationFormat>
  <Paragraphs>92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CMU Serif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Pamela Alejandra Franco Leiva</dc:creator>
  <cp:lastModifiedBy>Pamela Alejandra Franco Leiva</cp:lastModifiedBy>
  <cp:revision>28</cp:revision>
  <dcterms:created xsi:type="dcterms:W3CDTF">2026-05-28T16:29:39Z</dcterms:created>
  <dcterms:modified xsi:type="dcterms:W3CDTF">2026-06-08T12:18:03Z</dcterms:modified>
</cp:coreProperties>
</file>